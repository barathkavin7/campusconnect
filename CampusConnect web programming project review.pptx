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60" r:id="rId4"/>
    <p:sldId id="261" r:id="rId5"/>
    <p:sldId id="262" r:id="rId6"/>
    <p:sldId id="263" r:id="rId7"/>
    <p:sldId id="264" r:id="rId8"/>
    <p:sldId id="265" r:id="rId9"/>
    <p:sldId id="266" r:id="rId10"/>
    <p:sldId id="258" r:id="rId11"/>
    <p:sldId id="267" r:id="rId12"/>
  </p:sldIdLst>
  <p:sldSz cx="18288000" cy="10287000"/>
  <p:notesSz cx="6858000" cy="9144000"/>
  <p:embeddedFontLst>
    <p:embeddedFont>
      <p:font typeface="Montserrat" panose="00000500000000000000" pitchFamily="2" charset="0"/>
      <p:regular r:id="rId14"/>
      <p:bold r:id="rId15"/>
      <p:italic r:id="rId16"/>
      <p:boldItalic r:id="rId17"/>
    </p:embeddedFont>
    <p:embeddedFont>
      <p:font typeface="Sitka Small Semibold" pitchFamily="2" charset="0"/>
      <p:bold r:id="rId18"/>
      <p:boldItalic r:id="rId19"/>
    </p:embeddedFont>
    <p:embeddedFont>
      <p:font typeface="Times New Roman MT Bold"/>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6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7C564D-3B64-4439-8E8D-FDFDCC353A3B}" v="45" dt="2026-09-27T15:47:00.9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22" autoAdjust="0"/>
  </p:normalViewPr>
  <p:slideViewPr>
    <p:cSldViewPr>
      <p:cViewPr varScale="1">
        <p:scale>
          <a:sx n="52" d="100"/>
          <a:sy n="52" d="100"/>
        </p:scale>
        <p:origin x="878" y="62"/>
      </p:cViewPr>
      <p:guideLst>
        <p:guide orient="horz" pos="2160"/>
        <p:guide pos="369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19E13-D37A-49AE-B963-9D604CCCB1F8}"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05443F-A48B-441A-A9A5-E21DFF7F35F7}" type="slidenum">
              <a:rPr lang="en-US" smtClean="0"/>
              <a:t>‹#›</a:t>
            </a:fld>
            <a:endParaRPr lang="en-US"/>
          </a:p>
        </p:txBody>
      </p:sp>
    </p:spTree>
    <p:extLst>
      <p:ext uri="{BB962C8B-B14F-4D97-AF65-F5344CB8AC3E}">
        <p14:creationId xmlns:p14="http://schemas.microsoft.com/office/powerpoint/2010/main" val="2820712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05443F-A48B-441A-A9A5-E21DFF7F35F7}" type="slidenum">
              <a:rPr lang="en-US" smtClean="0"/>
              <a:t>9</a:t>
            </a:fld>
            <a:endParaRPr lang="en-US"/>
          </a:p>
        </p:txBody>
      </p:sp>
    </p:spTree>
    <p:extLst>
      <p:ext uri="{BB962C8B-B14F-4D97-AF65-F5344CB8AC3E}">
        <p14:creationId xmlns:p14="http://schemas.microsoft.com/office/powerpoint/2010/main" val="1350242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265234" y="2849413"/>
            <a:ext cx="16052997" cy="305591"/>
          </a:xfrm>
          <a:custGeom>
            <a:avLst/>
            <a:gdLst/>
            <a:ahLst/>
            <a:cxnLst/>
            <a:rect l="l" t="t" r="r" b="b"/>
            <a:pathLst>
              <a:path w="16052997" h="305591">
                <a:moveTo>
                  <a:pt x="0" y="0"/>
                </a:moveTo>
                <a:lnTo>
                  <a:pt x="16052997" y="0"/>
                </a:lnTo>
                <a:lnTo>
                  <a:pt x="160529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6" name="Freeform 6"/>
          <p:cNvSpPr/>
          <p:nvPr/>
        </p:nvSpPr>
        <p:spPr>
          <a:xfrm>
            <a:off x="16667236" y="96117"/>
            <a:ext cx="1500188" cy="1714500"/>
          </a:xfrm>
          <a:custGeom>
            <a:avLst/>
            <a:gdLst/>
            <a:ahLst/>
            <a:cxnLst/>
            <a:rect l="l" t="t" r="r" b="b"/>
            <a:pathLst>
              <a:path w="1500188" h="1714500">
                <a:moveTo>
                  <a:pt x="0" y="0"/>
                </a:moveTo>
                <a:lnTo>
                  <a:pt x="1500187" y="0"/>
                </a:lnTo>
                <a:lnTo>
                  <a:pt x="1500187" y="1714500"/>
                </a:lnTo>
                <a:lnTo>
                  <a:pt x="0" y="1714500"/>
                </a:lnTo>
                <a:lnTo>
                  <a:pt x="0" y="0"/>
                </a:lnTo>
                <a:close/>
              </a:path>
            </a:pathLst>
          </a:custGeom>
          <a:blipFill>
            <a:blip r:embed="rId4"/>
            <a:stretch>
              <a:fillRect b="-146"/>
            </a:stretch>
          </a:blipFill>
        </p:spPr>
        <p:txBody>
          <a:bodyPr/>
          <a:lstStyle/>
          <a:p>
            <a:endParaRPr/>
          </a:p>
        </p:txBody>
      </p:sp>
      <p:sp>
        <p:nvSpPr>
          <p:cNvPr id="7" name="Freeform 7" descr="Index of /image"/>
          <p:cNvSpPr/>
          <p:nvPr/>
        </p:nvSpPr>
        <p:spPr>
          <a:xfrm>
            <a:off x="0" y="96117"/>
            <a:ext cx="5635180" cy="1820294"/>
          </a:xfrm>
          <a:custGeom>
            <a:avLst/>
            <a:gdLst/>
            <a:ahLst/>
            <a:cxnLst/>
            <a:rect l="l" t="t" r="r" b="b"/>
            <a:pathLst>
              <a:path w="5635180" h="1820294">
                <a:moveTo>
                  <a:pt x="0" y="0"/>
                </a:moveTo>
                <a:lnTo>
                  <a:pt x="5635180" y="0"/>
                </a:lnTo>
                <a:lnTo>
                  <a:pt x="5635180" y="1820294"/>
                </a:lnTo>
                <a:lnTo>
                  <a:pt x="0" y="1820294"/>
                </a:lnTo>
                <a:lnTo>
                  <a:pt x="0" y="0"/>
                </a:lnTo>
                <a:close/>
              </a:path>
            </a:pathLst>
          </a:custGeom>
          <a:blipFill>
            <a:blip r:embed="rId5"/>
            <a:stretch>
              <a:fillRect r="-61"/>
            </a:stretch>
          </a:blipFill>
        </p:spPr>
        <p:txBody>
          <a:bodyPr/>
          <a:lstStyle/>
          <a:p>
            <a:endParaRPr/>
          </a:p>
        </p:txBody>
      </p:sp>
      <p:sp>
        <p:nvSpPr>
          <p:cNvPr id="8" name="TextBox 8"/>
          <p:cNvSpPr txBox="1"/>
          <p:nvPr/>
        </p:nvSpPr>
        <p:spPr>
          <a:xfrm>
            <a:off x="3095190" y="4815380"/>
            <a:ext cx="14154302" cy="738664"/>
          </a:xfrm>
          <a:prstGeom prst="rect">
            <a:avLst/>
          </a:prstGeom>
        </p:spPr>
        <p:txBody>
          <a:bodyPr wrap="square" lIns="0" tIns="0" rIns="0" bIns="0" rtlCol="0" anchor="t">
            <a:spAutoFit/>
          </a:bodyPr>
          <a:lstStyle/>
          <a:p>
            <a:pPr algn="ctr">
              <a:lnSpc>
                <a:spcPct val="100000"/>
              </a:lnSpc>
            </a:pPr>
            <a:endParaRPr lang="en-US" sz="4800" dirty="0">
              <a:solidFill>
                <a:srgbClr val="7030A0"/>
              </a:solidFill>
              <a:latin typeface="Sitka Small Semibold" pitchFamily="2" charset="0"/>
              <a:ea typeface="Times New Roman MT Bold"/>
              <a:cs typeface="Times New Roman MT Bold"/>
              <a:sym typeface="Times New Roman MT Bold"/>
            </a:endParaRPr>
          </a:p>
        </p:txBody>
      </p:sp>
      <p:sp>
        <p:nvSpPr>
          <p:cNvPr id="9" name="TextBox 9"/>
          <p:cNvSpPr txBox="1"/>
          <p:nvPr/>
        </p:nvSpPr>
        <p:spPr>
          <a:xfrm>
            <a:off x="533400" y="9003004"/>
            <a:ext cx="6583680" cy="411480"/>
          </a:xfrm>
          <a:prstGeom prst="rect">
            <a:avLst/>
          </a:prstGeom>
        </p:spPr>
        <p:txBody>
          <a:bodyPr wrap="square" lIns="0" tIns="0" rIns="0" bIns="0" rtlCol="0" anchor="ctr">
            <a:spAutoFit/>
          </a:bodyPr>
          <a:lstStyle/>
          <a:p>
            <a:pPr algn="l">
              <a:lnSpc>
                <a:spcPts val="3912"/>
              </a:lnSpc>
            </a:pPr>
            <a:r>
              <a:rPr sz="1500" b="1" dirty="0">
                <a:solidFill>
                  <a:srgbClr val="E8191D"/>
                </a:solidFill>
                <a:latin typeface="Aptos"/>
              </a:rPr>
              <a:t>COURSE: WEB PROGRAMMING (CS23531)</a:t>
            </a:r>
          </a:p>
        </p:txBody>
      </p:sp>
      <p:sp>
        <p:nvSpPr>
          <p:cNvPr id="10" name="TextBox 10"/>
          <p:cNvSpPr txBox="1"/>
          <p:nvPr/>
        </p:nvSpPr>
        <p:spPr>
          <a:xfrm>
            <a:off x="10668000" y="7716222"/>
            <a:ext cx="6722093" cy="460575"/>
          </a:xfrm>
          <a:prstGeom prst="rect">
            <a:avLst/>
          </a:prstGeom>
        </p:spPr>
        <p:txBody>
          <a:bodyPr wrap="square" lIns="0" tIns="0" rIns="0" bIns="0" rtlCol="0" anchor="t">
            <a:spAutoFit/>
          </a:bodyPr>
          <a:lstStyle/>
          <a:p>
            <a:pPr algn="l">
              <a:lnSpc>
                <a:spcPts val="3757"/>
              </a:lnSpc>
            </a:pPr>
            <a:endParaRPr lang="en-US" sz="3165" b="1" dirty="0">
              <a:solidFill>
                <a:srgbClr val="FF0000"/>
              </a:solidFill>
              <a:latin typeface="Times New Roman MT Bold"/>
              <a:ea typeface="Times New Roman MT Bold"/>
              <a:cs typeface="Times New Roman MT Bold"/>
              <a:sym typeface="Times New Roman MT Bold"/>
            </a:endParaRPr>
          </a:p>
        </p:txBody>
      </p:sp>
      <p:sp>
        <p:nvSpPr>
          <p:cNvPr id="11" name="TextBox 11"/>
          <p:cNvSpPr txBox="1"/>
          <p:nvPr/>
        </p:nvSpPr>
        <p:spPr>
          <a:xfrm>
            <a:off x="1498263" y="2120084"/>
            <a:ext cx="15168972" cy="749046"/>
          </a:xfrm>
          <a:prstGeom prst="rect">
            <a:avLst/>
          </a:prstGeom>
        </p:spPr>
        <p:txBody>
          <a:bodyPr lIns="0" tIns="0" rIns="0" bIns="0" rtlCol="0" anchor="t">
            <a:spAutoFit/>
          </a:bodyPr>
          <a:lstStyle/>
          <a:p>
            <a:pPr algn="l">
              <a:lnSpc>
                <a:spcPts val="5438"/>
              </a:lnSpc>
            </a:pPr>
            <a:r>
              <a:rPr lang="en-US" sz="3884" b="1" dirty="0">
                <a:solidFill>
                  <a:srgbClr val="002060"/>
                </a:solidFill>
                <a:latin typeface="Times New Roman MT Bold"/>
                <a:ea typeface="Times New Roman MT Bold"/>
                <a:cs typeface="Times New Roman MT Bold"/>
                <a:sym typeface="Times New Roman MT Bold"/>
              </a:rPr>
              <a:t>DEPARTMENT OF COMPUTER SCIENCE AND ENGINEERING</a:t>
            </a:r>
          </a:p>
        </p:txBody>
      </p:sp>
      <p:sp>
        <p:nvSpPr>
          <p:cNvPr id="2" name="TextBox 1">
            <a:extLst>
              <a:ext uri="{FF2B5EF4-FFF2-40B4-BE49-F238E27FC236}">
                <a16:creationId xmlns:a16="http://schemas.microsoft.com/office/drawing/2014/main" id="{F9A58AF9-180E-A964-B1FC-C99E229CD454}"/>
              </a:ext>
            </a:extLst>
          </p:cNvPr>
          <p:cNvSpPr txBox="1"/>
          <p:nvPr/>
        </p:nvSpPr>
        <p:spPr>
          <a:xfrm>
            <a:off x="1796132" y="5769743"/>
            <a:ext cx="15621000" cy="707886"/>
          </a:xfrm>
          <a:prstGeom prst="rect">
            <a:avLst/>
          </a:prstGeom>
          <a:noFill/>
        </p:spPr>
        <p:txBody>
          <a:bodyPr wrap="square" rtlCol="0">
            <a:spAutoFit/>
          </a:bodyPr>
          <a:lstStyle/>
          <a:p>
            <a:pPr algn="ctr"/>
            <a:endParaRPr lang="en-US" sz="4000" dirty="0"/>
          </a:p>
        </p:txBody>
      </p:sp>
      <p:sp>
        <p:nvSpPr>
          <p:cNvPr id="12" name="TextBox 11"/>
          <p:cNvSpPr txBox="1"/>
          <p:nvPr/>
        </p:nvSpPr>
        <p:spPr>
          <a:xfrm>
            <a:off x="2786732" y="3438467"/>
            <a:ext cx="12801600" cy="685800"/>
          </a:xfrm>
          <a:prstGeom prst="rect">
            <a:avLst/>
          </a:prstGeom>
          <a:noFill/>
        </p:spPr>
        <p:txBody>
          <a:bodyPr wrap="square" lIns="45720" rIns="45720" anchor="t">
            <a:spAutoFit/>
          </a:bodyPr>
          <a:lstStyle/>
          <a:p>
            <a:pPr algn="ctr"/>
            <a:r>
              <a:rPr sz="3400" b="1" dirty="0">
                <a:solidFill>
                  <a:srgbClr val="0B2B66"/>
                </a:solidFill>
                <a:latin typeface="Aptos"/>
              </a:rPr>
              <a:t>CAMPUSCONNECT</a:t>
            </a:r>
          </a:p>
        </p:txBody>
      </p:sp>
      <p:sp>
        <p:nvSpPr>
          <p:cNvPr id="13" name="TextBox 12"/>
          <p:cNvSpPr txBox="1"/>
          <p:nvPr/>
        </p:nvSpPr>
        <p:spPr>
          <a:xfrm>
            <a:off x="2786732" y="3995156"/>
            <a:ext cx="12801600" cy="548640"/>
          </a:xfrm>
          <a:prstGeom prst="rect">
            <a:avLst/>
          </a:prstGeom>
          <a:noFill/>
        </p:spPr>
        <p:txBody>
          <a:bodyPr wrap="square" lIns="45720" rIns="45720" anchor="t">
            <a:spAutoFit/>
          </a:bodyPr>
          <a:lstStyle/>
          <a:p>
            <a:pPr algn="ctr"/>
            <a:r>
              <a:rPr sz="2200" b="1" dirty="0">
                <a:solidFill>
                  <a:srgbClr val="E8191D"/>
                </a:solidFill>
                <a:latin typeface="Aptos"/>
              </a:rPr>
              <a:t>Internship &amp; Placement Management Portal</a:t>
            </a:r>
          </a:p>
        </p:txBody>
      </p:sp>
      <p:sp>
        <p:nvSpPr>
          <p:cNvPr id="14" name="TextBox 13"/>
          <p:cNvSpPr txBox="1"/>
          <p:nvPr/>
        </p:nvSpPr>
        <p:spPr>
          <a:xfrm>
            <a:off x="3609692" y="4481658"/>
            <a:ext cx="11155680" cy="646331"/>
          </a:xfrm>
          <a:prstGeom prst="rect">
            <a:avLst/>
          </a:prstGeom>
          <a:noFill/>
        </p:spPr>
        <p:txBody>
          <a:bodyPr wrap="square" lIns="45720" rIns="45720" anchor="t">
            <a:spAutoFit/>
          </a:bodyPr>
          <a:lstStyle/>
          <a:p>
            <a:pPr algn="ctr"/>
            <a:r>
              <a:rPr sz="3600" b="1" dirty="0">
                <a:solidFill>
                  <a:srgbClr val="525C6E"/>
                </a:solidFill>
                <a:latin typeface="Aptos"/>
              </a:rPr>
              <a:t>WEB PROGRAMMING COURSE PROJECT</a:t>
            </a:r>
          </a:p>
        </p:txBody>
      </p:sp>
      <p:sp>
        <p:nvSpPr>
          <p:cNvPr id="15" name="TextBox 14"/>
          <p:cNvSpPr txBox="1"/>
          <p:nvPr/>
        </p:nvSpPr>
        <p:spPr>
          <a:xfrm>
            <a:off x="5667092" y="6730158"/>
            <a:ext cx="6583680" cy="548640"/>
          </a:xfrm>
          <a:prstGeom prst="rect">
            <a:avLst/>
          </a:prstGeom>
          <a:noFill/>
        </p:spPr>
        <p:txBody>
          <a:bodyPr wrap="square" lIns="45720" rIns="45720" anchor="t">
            <a:spAutoFit/>
          </a:bodyPr>
          <a:lstStyle/>
          <a:p>
            <a:pPr algn="ctr"/>
            <a:r>
              <a:rPr sz="1800" b="1" dirty="0">
                <a:solidFill>
                  <a:srgbClr val="1F2937"/>
                </a:solidFill>
                <a:latin typeface="Aptos"/>
              </a:rPr>
              <a:t>BARATH KAVIN S  |  240701071</a:t>
            </a:r>
          </a:p>
        </p:txBody>
      </p:sp>
      <p:sp>
        <p:nvSpPr>
          <p:cNvPr id="16" name="TextBox 15"/>
          <p:cNvSpPr txBox="1"/>
          <p:nvPr/>
        </p:nvSpPr>
        <p:spPr>
          <a:xfrm>
            <a:off x="6352892" y="7184622"/>
            <a:ext cx="5212080" cy="365760"/>
          </a:xfrm>
          <a:prstGeom prst="rect">
            <a:avLst/>
          </a:prstGeom>
          <a:noFill/>
        </p:spPr>
        <p:txBody>
          <a:bodyPr wrap="square" lIns="45720" rIns="45720" anchor="t">
            <a:spAutoFit/>
          </a:bodyPr>
          <a:lstStyle/>
          <a:p>
            <a:pPr algn="ctr"/>
            <a:r>
              <a:rPr sz="1300" b="0" dirty="0">
                <a:solidFill>
                  <a:srgbClr val="525C6E"/>
                </a:solidFill>
                <a:latin typeface="Aptos"/>
              </a:rPr>
              <a:t>III YEAR –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a:grpSpLocks noChangeAspect="1"/>
          </p:cNvGrpSpPr>
          <p:nvPr/>
        </p:nvGrpSpPr>
        <p:grpSpPr>
          <a:xfrm>
            <a:off x="1219200" y="9255919"/>
            <a:ext cx="15849600" cy="4762"/>
            <a:chOff x="0" y="0"/>
            <a:chExt cx="15849600" cy="4762"/>
          </a:xfrm>
        </p:grpSpPr>
        <p:sp>
          <p:nvSpPr>
            <p:cNvPr id="4" name="Freeform 4"/>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Freeform 5"/>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6" name="TextBox 6"/>
          <p:cNvSpPr txBox="1"/>
          <p:nvPr/>
        </p:nvSpPr>
        <p:spPr>
          <a:xfrm>
            <a:off x="3657600" y="502920"/>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PROBLEM STATEMENT</a:t>
            </a:r>
          </a:p>
        </p:txBody>
      </p:sp>
      <p:sp>
        <p:nvSpPr>
          <p:cNvPr id="7" name="TextBox 7"/>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8" name="TextBox 8"/>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9" name="TextBox 9"/>
          <p:cNvSpPr txBox="1"/>
          <p:nvPr/>
        </p:nvSpPr>
        <p:spPr>
          <a:xfrm>
            <a:off x="16831923" y="9377810"/>
            <a:ext cx="148238" cy="313296"/>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2</a:t>
            </a:r>
          </a:p>
        </p:txBody>
      </p:sp>
      <p:sp>
        <p:nvSpPr>
          <p:cNvPr id="10" name="TextBox 9"/>
          <p:cNvSpPr txBox="1"/>
          <p:nvPr/>
        </p:nvSpPr>
        <p:spPr>
          <a:xfrm>
            <a:off x="960120" y="1828800"/>
            <a:ext cx="6492240" cy="954107"/>
          </a:xfrm>
          <a:prstGeom prst="rect">
            <a:avLst/>
          </a:prstGeom>
          <a:noFill/>
        </p:spPr>
        <p:txBody>
          <a:bodyPr wrap="square" lIns="45720" rIns="45720" anchor="t">
            <a:spAutoFit/>
          </a:bodyPr>
          <a:lstStyle/>
          <a:p>
            <a:pPr algn="l"/>
            <a:r>
              <a:rPr sz="2800" b="1" dirty="0">
                <a:solidFill>
                  <a:srgbClr val="0B2B66"/>
                </a:solidFill>
                <a:latin typeface="Aptos"/>
              </a:rPr>
              <a:t>Current placement workflows are fragmented</a:t>
            </a:r>
          </a:p>
        </p:txBody>
      </p:sp>
      <p:sp>
        <p:nvSpPr>
          <p:cNvPr id="11" name="TextBox 10"/>
          <p:cNvSpPr txBox="1"/>
          <p:nvPr/>
        </p:nvSpPr>
        <p:spPr>
          <a:xfrm>
            <a:off x="960120" y="2836848"/>
            <a:ext cx="6492240" cy="3094693"/>
          </a:xfrm>
          <a:prstGeom prst="rect">
            <a:avLst/>
          </a:prstGeom>
          <a:noFill/>
        </p:spPr>
        <p:txBody>
          <a:bodyPr wrap="square" lIns="36576" tIns="27432" rIns="36576" bIns="27432">
            <a:spAutoFit/>
          </a:bodyPr>
          <a:lstStyle/>
          <a:p>
            <a:pPr>
              <a:spcAft>
                <a:spcPts val="700"/>
              </a:spcAft>
              <a:defRPr sz="1650">
                <a:solidFill>
                  <a:srgbClr val="1F2937"/>
                </a:solidFill>
                <a:latin typeface="Aptos"/>
              </a:defRPr>
            </a:pPr>
            <a:r>
              <a:rPr dirty="0"/>
              <a:t>•  </a:t>
            </a:r>
            <a:r>
              <a:rPr sz="2000" dirty="0"/>
              <a:t>Students often depend on multiple channels to discover opportunities and track applications.</a:t>
            </a:r>
          </a:p>
          <a:p>
            <a:pPr>
              <a:spcAft>
                <a:spcPts val="700"/>
              </a:spcAft>
              <a:defRPr sz="1650">
                <a:solidFill>
                  <a:srgbClr val="1F2937"/>
                </a:solidFill>
                <a:latin typeface="Aptos"/>
              </a:defRPr>
            </a:pPr>
            <a:r>
              <a:rPr sz="2000" dirty="0"/>
              <a:t>•  Recruiters need a structured way to publish roles and manage applicants.</a:t>
            </a:r>
          </a:p>
          <a:p>
            <a:pPr>
              <a:spcAft>
                <a:spcPts val="700"/>
              </a:spcAft>
              <a:defRPr sz="1650">
                <a:solidFill>
                  <a:srgbClr val="1F2937"/>
                </a:solidFill>
                <a:latin typeface="Aptos"/>
              </a:defRPr>
            </a:pPr>
            <a:r>
              <a:rPr sz="2000" dirty="0"/>
              <a:t>•  Placement teams require centralized approval, monitoring, analytics and reporting.</a:t>
            </a:r>
          </a:p>
          <a:p>
            <a:pPr>
              <a:spcAft>
                <a:spcPts val="700"/>
              </a:spcAft>
              <a:defRPr sz="1650">
                <a:solidFill>
                  <a:srgbClr val="1F2937"/>
                </a:solidFill>
                <a:latin typeface="Aptos"/>
              </a:defRPr>
            </a:pPr>
            <a:r>
              <a:rPr sz="2000" dirty="0"/>
              <a:t>•  Important updates such as interviews, application status and announcements can be difficult to track consistently</a:t>
            </a:r>
            <a:r>
              <a:rPr dirty="0"/>
              <a:t>.</a:t>
            </a:r>
          </a:p>
        </p:txBody>
      </p:sp>
      <p:pic>
        <p:nvPicPr>
          <p:cNvPr id="13" name="Picture 12" descr="landing.png"/>
          <p:cNvPicPr>
            <a:picLocks noChangeAspect="1"/>
          </p:cNvPicPr>
          <p:nvPr/>
        </p:nvPicPr>
        <p:blipFill>
          <a:blip r:embed="rId4"/>
          <a:stretch>
            <a:fillRect/>
          </a:stretch>
        </p:blipFill>
        <p:spPr>
          <a:xfrm>
            <a:off x="7860694" y="2005591"/>
            <a:ext cx="9479476" cy="5281423"/>
          </a:xfrm>
          <a:prstGeom prst="rect">
            <a:avLst/>
          </a:prstGeom>
        </p:spPr>
      </p:pic>
      <p:sp>
        <p:nvSpPr>
          <p:cNvPr id="14" name="TextBox 13"/>
          <p:cNvSpPr txBox="1"/>
          <p:nvPr/>
        </p:nvSpPr>
        <p:spPr>
          <a:xfrm>
            <a:off x="7500686" y="7331125"/>
            <a:ext cx="9479475" cy="400110"/>
          </a:xfrm>
          <a:prstGeom prst="rect">
            <a:avLst/>
          </a:prstGeom>
          <a:noFill/>
        </p:spPr>
        <p:txBody>
          <a:bodyPr wrap="square" lIns="45720" rIns="45720" anchor="t">
            <a:spAutoFit/>
          </a:bodyPr>
          <a:lstStyle/>
          <a:p>
            <a:pPr algn="ctr"/>
            <a:r>
              <a:rPr sz="2000" b="1" dirty="0">
                <a:solidFill>
                  <a:srgbClr val="E8191D"/>
                </a:solidFill>
                <a:latin typeface="Aptos"/>
              </a:rPr>
              <a:t>Goal: bring students, recruiters and placement teams into one web platform</a:t>
            </a:r>
            <a:r>
              <a:rPr sz="1400" b="1" dirty="0">
                <a:solidFill>
                  <a:srgbClr val="E8191D"/>
                </a:solidFill>
                <a:latin typeface="Apto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a:extLst>
              <a:ext uri="{FF2B5EF4-FFF2-40B4-BE49-F238E27FC236}">
                <a16:creationId xmlns:a16="http://schemas.microsoft.com/office/drawing/2014/main" id="{C8DDC29D-B752-F8B3-1837-91A48D4F892C}"/>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pSp>
        <p:nvGrpSpPr>
          <p:cNvPr id="4" name="Group 3">
            <a:extLst>
              <a:ext uri="{FF2B5EF4-FFF2-40B4-BE49-F238E27FC236}">
                <a16:creationId xmlns:a16="http://schemas.microsoft.com/office/drawing/2014/main" id="{A0232746-0FDA-5E92-387D-2A6C6392C611}"/>
              </a:ext>
            </a:extLst>
          </p:cNvPr>
          <p:cNvGrpSpPr>
            <a:grpSpLocks noChangeAspect="1"/>
          </p:cNvGrpSpPr>
          <p:nvPr/>
        </p:nvGrpSpPr>
        <p:grpSpPr>
          <a:xfrm>
            <a:off x="1219200" y="9255919"/>
            <a:ext cx="15849600" cy="4762"/>
            <a:chOff x="0" y="0"/>
            <a:chExt cx="15849600" cy="4762"/>
          </a:xfrm>
        </p:grpSpPr>
        <p:sp>
          <p:nvSpPr>
            <p:cNvPr id="5" name="Freeform 4">
              <a:extLst>
                <a:ext uri="{FF2B5EF4-FFF2-40B4-BE49-F238E27FC236}">
                  <a16:creationId xmlns:a16="http://schemas.microsoft.com/office/drawing/2014/main" id="{3CC5F9BD-2EB2-A482-C2A2-CDAD4FD98C7D}"/>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7" name="TextBox 8">
            <a:extLst>
              <a:ext uri="{FF2B5EF4-FFF2-40B4-BE49-F238E27FC236}">
                <a16:creationId xmlns:a16="http://schemas.microsoft.com/office/drawing/2014/main" id="{A625B5A7-5441-54EB-BFBD-8993C538C20C}"/>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9" name="TextBox 9">
            <a:extLst>
              <a:ext uri="{FF2B5EF4-FFF2-40B4-BE49-F238E27FC236}">
                <a16:creationId xmlns:a16="http://schemas.microsoft.com/office/drawing/2014/main" id="{27AB2F31-AA8C-80EB-9261-E21023853ED9}"/>
              </a:ext>
            </a:extLst>
          </p:cNvPr>
          <p:cNvSpPr txBox="1"/>
          <p:nvPr/>
        </p:nvSpPr>
        <p:spPr>
          <a:xfrm>
            <a:off x="16831923"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3</a:t>
            </a:r>
            <a:endParaRPr lang="en-US" sz="1800" spc="-19" dirty="0">
              <a:solidFill>
                <a:srgbClr val="000000"/>
              </a:solidFill>
              <a:latin typeface="Montserrat"/>
              <a:ea typeface="Montserrat"/>
              <a:cs typeface="Montserrat"/>
              <a:sym typeface="Montserrat"/>
            </a:endParaRPr>
          </a:p>
        </p:txBody>
      </p:sp>
      <p:sp>
        <p:nvSpPr>
          <p:cNvPr id="11" name="TextBox 7">
            <a:extLst>
              <a:ext uri="{FF2B5EF4-FFF2-40B4-BE49-F238E27FC236}">
                <a16:creationId xmlns:a16="http://schemas.microsoft.com/office/drawing/2014/main" id="{01F5C96E-F126-C97B-EE20-45ACC531B81A}"/>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13" name="TextBox 6">
            <a:extLst>
              <a:ext uri="{FF2B5EF4-FFF2-40B4-BE49-F238E27FC236}">
                <a16:creationId xmlns:a16="http://schemas.microsoft.com/office/drawing/2014/main" id="{988B5A82-C8E5-E677-7471-4EB2C619DFF5}"/>
              </a:ext>
            </a:extLst>
          </p:cNvPr>
          <p:cNvSpPr txBox="1"/>
          <p:nvPr/>
        </p:nvSpPr>
        <p:spPr>
          <a:xfrm>
            <a:off x="3657600" y="502920"/>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PROJECT OBJECTIVES</a:t>
            </a:r>
          </a:p>
        </p:txBody>
      </p:sp>
      <p:sp>
        <p:nvSpPr>
          <p:cNvPr id="14" name="Rounded Rectangle 13"/>
          <p:cNvSpPr/>
          <p:nvPr/>
        </p:nvSpPr>
        <p:spPr>
          <a:xfrm>
            <a:off x="944880" y="1638300"/>
            <a:ext cx="4389120" cy="182880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44880" y="1638300"/>
            <a:ext cx="73152" cy="1828800"/>
          </a:xfrm>
          <a:prstGeom prst="rect">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27760" y="1784604"/>
            <a:ext cx="4069080" cy="320040"/>
          </a:xfrm>
          <a:prstGeom prst="rect">
            <a:avLst/>
          </a:prstGeom>
          <a:noFill/>
        </p:spPr>
        <p:txBody>
          <a:bodyPr wrap="square" lIns="45720" rIns="45720" anchor="t">
            <a:spAutoFit/>
          </a:bodyPr>
          <a:lstStyle/>
          <a:p>
            <a:pPr algn="l"/>
            <a:r>
              <a:rPr sz="1600" b="1">
                <a:solidFill>
                  <a:srgbClr val="0B2B66"/>
                </a:solidFill>
                <a:latin typeface="Aptos"/>
              </a:rPr>
              <a:t>1. Build an interactive web application</a:t>
            </a:r>
          </a:p>
        </p:txBody>
      </p:sp>
      <p:sp>
        <p:nvSpPr>
          <p:cNvPr id="17" name="TextBox 16"/>
          <p:cNvSpPr txBox="1"/>
          <p:nvPr/>
        </p:nvSpPr>
        <p:spPr>
          <a:xfrm>
            <a:off x="1127760" y="2168652"/>
            <a:ext cx="4069080" cy="1170432"/>
          </a:xfrm>
          <a:prstGeom prst="rect">
            <a:avLst/>
          </a:prstGeom>
          <a:noFill/>
        </p:spPr>
        <p:txBody>
          <a:bodyPr wrap="square" lIns="45720" rIns="45720" anchor="t">
            <a:spAutoFit/>
          </a:bodyPr>
          <a:lstStyle/>
          <a:p>
            <a:pPr algn="l"/>
            <a:r>
              <a:rPr sz="1250" b="0">
                <a:solidFill>
                  <a:srgbClr val="1F2937"/>
                </a:solidFill>
                <a:latin typeface="Aptos"/>
              </a:rPr>
              <a:t>Create a responsive interface using HTML5, CSS3 and vanilla JavaScript.</a:t>
            </a:r>
          </a:p>
        </p:txBody>
      </p:sp>
      <p:sp>
        <p:nvSpPr>
          <p:cNvPr id="18" name="Rounded Rectangle 17"/>
          <p:cNvSpPr/>
          <p:nvPr/>
        </p:nvSpPr>
        <p:spPr>
          <a:xfrm>
            <a:off x="6402348" y="1651672"/>
            <a:ext cx="4389120" cy="182880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Rectangle 18"/>
          <p:cNvSpPr/>
          <p:nvPr/>
        </p:nvSpPr>
        <p:spPr>
          <a:xfrm>
            <a:off x="6400800" y="1710205"/>
            <a:ext cx="73152" cy="1828800"/>
          </a:xfrm>
          <a:prstGeom prst="rect">
            <a:avLst/>
          </a:prstGeom>
          <a:solidFill>
            <a:srgbClr val="7C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2076" y="1839924"/>
            <a:ext cx="4069080" cy="320040"/>
          </a:xfrm>
          <a:prstGeom prst="rect">
            <a:avLst/>
          </a:prstGeom>
          <a:noFill/>
        </p:spPr>
        <p:txBody>
          <a:bodyPr wrap="square" lIns="45720" rIns="45720" anchor="t">
            <a:spAutoFit/>
          </a:bodyPr>
          <a:lstStyle/>
          <a:p>
            <a:pPr algn="l"/>
            <a:r>
              <a:rPr sz="1600" b="1" dirty="0">
                <a:solidFill>
                  <a:srgbClr val="0B2B66"/>
                </a:solidFill>
                <a:latin typeface="Aptos"/>
              </a:rPr>
              <a:t>2. Support three user roles</a:t>
            </a:r>
          </a:p>
        </p:txBody>
      </p:sp>
      <p:sp>
        <p:nvSpPr>
          <p:cNvPr id="21" name="TextBox 20"/>
          <p:cNvSpPr txBox="1"/>
          <p:nvPr/>
        </p:nvSpPr>
        <p:spPr>
          <a:xfrm>
            <a:off x="6512076" y="2159964"/>
            <a:ext cx="4069080" cy="1170432"/>
          </a:xfrm>
          <a:prstGeom prst="rect">
            <a:avLst/>
          </a:prstGeom>
          <a:noFill/>
        </p:spPr>
        <p:txBody>
          <a:bodyPr wrap="square" lIns="45720" rIns="45720" anchor="t">
            <a:spAutoFit/>
          </a:bodyPr>
          <a:lstStyle/>
          <a:p>
            <a:pPr algn="l"/>
            <a:r>
              <a:rPr sz="1250" b="0" dirty="0">
                <a:solidFill>
                  <a:srgbClr val="1F2937"/>
                </a:solidFill>
                <a:latin typeface="Aptos"/>
              </a:rPr>
              <a:t>Provide dedicated experiences for students, recruiters and placement officers.</a:t>
            </a:r>
          </a:p>
        </p:txBody>
      </p:sp>
      <p:sp>
        <p:nvSpPr>
          <p:cNvPr id="22" name="Rounded Rectangle 21"/>
          <p:cNvSpPr/>
          <p:nvPr/>
        </p:nvSpPr>
        <p:spPr>
          <a:xfrm>
            <a:off x="12070079" y="1628665"/>
            <a:ext cx="4389120" cy="182880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ectangle 22"/>
          <p:cNvSpPr/>
          <p:nvPr/>
        </p:nvSpPr>
        <p:spPr>
          <a:xfrm>
            <a:off x="12073175" y="1687198"/>
            <a:ext cx="73152" cy="1828800"/>
          </a:xfrm>
          <a:prstGeom prst="rect">
            <a:avLst/>
          </a:prstGeom>
          <a:solidFill>
            <a:srgbClr val="128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207239" y="1714353"/>
            <a:ext cx="4069080" cy="320040"/>
          </a:xfrm>
          <a:prstGeom prst="rect">
            <a:avLst/>
          </a:prstGeom>
          <a:noFill/>
        </p:spPr>
        <p:txBody>
          <a:bodyPr wrap="square" lIns="45720" rIns="45720" anchor="t">
            <a:spAutoFit/>
          </a:bodyPr>
          <a:lstStyle/>
          <a:p>
            <a:pPr algn="l"/>
            <a:r>
              <a:rPr sz="1600" b="1" dirty="0">
                <a:solidFill>
                  <a:srgbClr val="0B2B66"/>
                </a:solidFill>
                <a:latin typeface="Aptos"/>
              </a:rPr>
              <a:t>3. Apply Web Programming concepts</a:t>
            </a:r>
          </a:p>
        </p:txBody>
      </p:sp>
      <p:sp>
        <p:nvSpPr>
          <p:cNvPr id="25" name="TextBox 24"/>
          <p:cNvSpPr txBox="1"/>
          <p:nvPr/>
        </p:nvSpPr>
        <p:spPr>
          <a:xfrm>
            <a:off x="12207239" y="2020677"/>
            <a:ext cx="4069080" cy="1170432"/>
          </a:xfrm>
          <a:prstGeom prst="rect">
            <a:avLst/>
          </a:prstGeom>
          <a:noFill/>
        </p:spPr>
        <p:txBody>
          <a:bodyPr wrap="square" lIns="45720" rIns="45720" anchor="t">
            <a:spAutoFit/>
          </a:bodyPr>
          <a:lstStyle/>
          <a:p>
            <a:pPr algn="l"/>
            <a:r>
              <a:rPr sz="1250" b="0" dirty="0">
                <a:solidFill>
                  <a:srgbClr val="1F2937"/>
                </a:solidFill>
                <a:latin typeface="Aptos"/>
              </a:rPr>
              <a:t>Use forms, DOM manipulation, events, validation, responsive CSS and API-driven updates.</a:t>
            </a:r>
          </a:p>
        </p:txBody>
      </p:sp>
      <p:sp>
        <p:nvSpPr>
          <p:cNvPr id="26" name="Rounded Rectangle 25"/>
          <p:cNvSpPr/>
          <p:nvPr/>
        </p:nvSpPr>
        <p:spPr>
          <a:xfrm>
            <a:off x="3535680" y="4076700"/>
            <a:ext cx="4389120" cy="182880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35680" y="4076700"/>
            <a:ext cx="73152" cy="1828800"/>
          </a:xfrm>
          <a:prstGeom prst="rect">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18560" y="4223005"/>
            <a:ext cx="4069080" cy="320040"/>
          </a:xfrm>
          <a:prstGeom prst="rect">
            <a:avLst/>
          </a:prstGeom>
          <a:noFill/>
        </p:spPr>
        <p:txBody>
          <a:bodyPr wrap="square" lIns="45720" rIns="45720" anchor="t">
            <a:spAutoFit/>
          </a:bodyPr>
          <a:lstStyle/>
          <a:p>
            <a:pPr algn="l"/>
            <a:r>
              <a:rPr sz="1600" b="1">
                <a:solidFill>
                  <a:srgbClr val="0B2B66"/>
                </a:solidFill>
                <a:latin typeface="Aptos"/>
              </a:rPr>
              <a:t>4. Centralize placement workflows</a:t>
            </a:r>
          </a:p>
        </p:txBody>
      </p:sp>
      <p:sp>
        <p:nvSpPr>
          <p:cNvPr id="29" name="TextBox 28"/>
          <p:cNvSpPr txBox="1"/>
          <p:nvPr/>
        </p:nvSpPr>
        <p:spPr>
          <a:xfrm>
            <a:off x="3718560" y="4607053"/>
            <a:ext cx="4069080" cy="1170432"/>
          </a:xfrm>
          <a:prstGeom prst="rect">
            <a:avLst/>
          </a:prstGeom>
          <a:noFill/>
        </p:spPr>
        <p:txBody>
          <a:bodyPr wrap="square" lIns="45720" rIns="45720" anchor="t">
            <a:spAutoFit/>
          </a:bodyPr>
          <a:lstStyle/>
          <a:p>
            <a:pPr algn="l"/>
            <a:r>
              <a:rPr sz="1250" b="0">
                <a:solidFill>
                  <a:srgbClr val="1F2937"/>
                </a:solidFill>
                <a:latin typeface="Aptos"/>
              </a:rPr>
              <a:t>Manage opportunities, applications, interviews, profiles and announcements.</a:t>
            </a:r>
          </a:p>
        </p:txBody>
      </p:sp>
      <p:sp>
        <p:nvSpPr>
          <p:cNvPr id="30" name="Rounded Rectangle 29"/>
          <p:cNvSpPr/>
          <p:nvPr/>
        </p:nvSpPr>
        <p:spPr>
          <a:xfrm>
            <a:off x="9403080" y="4000500"/>
            <a:ext cx="4389120" cy="182880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403080" y="4000500"/>
            <a:ext cx="73152" cy="1828800"/>
          </a:xfrm>
          <a:prstGeom prst="rect">
            <a:avLst/>
          </a:prstGeom>
          <a:solidFill>
            <a:srgbClr val="7C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585960" y="4146805"/>
            <a:ext cx="4069080" cy="320040"/>
          </a:xfrm>
          <a:prstGeom prst="rect">
            <a:avLst/>
          </a:prstGeom>
          <a:noFill/>
        </p:spPr>
        <p:txBody>
          <a:bodyPr wrap="square" lIns="45720" rIns="45720" anchor="t">
            <a:spAutoFit/>
          </a:bodyPr>
          <a:lstStyle/>
          <a:p>
            <a:pPr algn="l"/>
            <a:r>
              <a:rPr sz="1600" b="1">
                <a:solidFill>
                  <a:srgbClr val="0B2B66"/>
                </a:solidFill>
                <a:latin typeface="Aptos"/>
              </a:rPr>
              <a:t>5. Demonstrate a complete system</a:t>
            </a:r>
          </a:p>
        </p:txBody>
      </p:sp>
      <p:sp>
        <p:nvSpPr>
          <p:cNvPr id="33" name="TextBox 32"/>
          <p:cNvSpPr txBox="1"/>
          <p:nvPr/>
        </p:nvSpPr>
        <p:spPr>
          <a:xfrm>
            <a:off x="9585960" y="4530853"/>
            <a:ext cx="4069080" cy="1170432"/>
          </a:xfrm>
          <a:prstGeom prst="rect">
            <a:avLst/>
          </a:prstGeom>
          <a:noFill/>
        </p:spPr>
        <p:txBody>
          <a:bodyPr wrap="square" lIns="45720" rIns="45720" anchor="t">
            <a:spAutoFit/>
          </a:bodyPr>
          <a:lstStyle/>
          <a:p>
            <a:pPr algn="l"/>
            <a:r>
              <a:rPr sz="1250" b="0">
                <a:solidFill>
                  <a:srgbClr val="1F2937"/>
                </a:solidFill>
                <a:latin typeface="Aptos"/>
              </a:rPr>
              <a:t>Connect the frontend to Node.js/Express APIs and MySQL for real application behavior.</a:t>
            </a:r>
          </a:p>
        </p:txBody>
      </p:sp>
    </p:spTree>
    <p:extLst>
      <p:ext uri="{BB962C8B-B14F-4D97-AF65-F5344CB8AC3E}">
        <p14:creationId xmlns:p14="http://schemas.microsoft.com/office/powerpoint/2010/main" val="447428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21D57AB1-BA96-0CC1-01CC-4E1CBC0CDDC3}"/>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pSp>
        <p:nvGrpSpPr>
          <p:cNvPr id="5" name="Group 4">
            <a:extLst>
              <a:ext uri="{FF2B5EF4-FFF2-40B4-BE49-F238E27FC236}">
                <a16:creationId xmlns:a16="http://schemas.microsoft.com/office/drawing/2014/main" id="{F9973F12-2DF6-F8C0-598A-2C74681D93DA}"/>
              </a:ext>
            </a:extLst>
          </p:cNvPr>
          <p:cNvGrpSpPr>
            <a:grpSpLocks noChangeAspect="1"/>
          </p:cNvGrpSpPr>
          <p:nvPr/>
        </p:nvGrpSpPr>
        <p:grpSpPr>
          <a:xfrm>
            <a:off x="1219200" y="9255919"/>
            <a:ext cx="15849600" cy="4762"/>
            <a:chOff x="0" y="0"/>
            <a:chExt cx="15849600" cy="4762"/>
          </a:xfrm>
        </p:grpSpPr>
        <p:sp>
          <p:nvSpPr>
            <p:cNvPr id="6" name="Freeform 4">
              <a:extLst>
                <a:ext uri="{FF2B5EF4-FFF2-40B4-BE49-F238E27FC236}">
                  <a16:creationId xmlns:a16="http://schemas.microsoft.com/office/drawing/2014/main" id="{E1DDF3BC-0F13-008A-C6CF-7645DC778082}"/>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7" name="TextBox 8">
            <a:extLst>
              <a:ext uri="{FF2B5EF4-FFF2-40B4-BE49-F238E27FC236}">
                <a16:creationId xmlns:a16="http://schemas.microsoft.com/office/drawing/2014/main" id="{DAB976AB-49C1-747E-E168-3ABD8499873E}"/>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8" name="TextBox 9">
            <a:extLst>
              <a:ext uri="{FF2B5EF4-FFF2-40B4-BE49-F238E27FC236}">
                <a16:creationId xmlns:a16="http://schemas.microsoft.com/office/drawing/2014/main" id="{D81E3AC9-97F3-8AA6-DBF3-CF51D8769CFE}"/>
              </a:ext>
            </a:extLst>
          </p:cNvPr>
          <p:cNvSpPr txBox="1"/>
          <p:nvPr/>
        </p:nvSpPr>
        <p:spPr>
          <a:xfrm>
            <a:off x="16831923"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4</a:t>
            </a:r>
            <a:endParaRPr lang="en-US" sz="1800" spc="-19" dirty="0">
              <a:solidFill>
                <a:srgbClr val="000000"/>
              </a:solidFill>
              <a:latin typeface="Montserrat"/>
              <a:ea typeface="Montserrat"/>
              <a:cs typeface="Montserrat"/>
              <a:sym typeface="Montserrat"/>
            </a:endParaRPr>
          </a:p>
        </p:txBody>
      </p:sp>
      <p:sp>
        <p:nvSpPr>
          <p:cNvPr id="9" name="TextBox 7">
            <a:extLst>
              <a:ext uri="{FF2B5EF4-FFF2-40B4-BE49-F238E27FC236}">
                <a16:creationId xmlns:a16="http://schemas.microsoft.com/office/drawing/2014/main" id="{EBBA2573-9501-3811-10D1-884CD6128A0E}"/>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11" name="TextBox 6">
            <a:extLst>
              <a:ext uri="{FF2B5EF4-FFF2-40B4-BE49-F238E27FC236}">
                <a16:creationId xmlns:a16="http://schemas.microsoft.com/office/drawing/2014/main" id="{DD1439C6-C016-8DF3-CA6C-9BC114815B97}"/>
              </a:ext>
            </a:extLst>
          </p:cNvPr>
          <p:cNvSpPr txBox="1"/>
          <p:nvPr/>
        </p:nvSpPr>
        <p:spPr>
          <a:xfrm>
            <a:off x="3657600" y="502920"/>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ABSTRACT</a:t>
            </a:r>
          </a:p>
        </p:txBody>
      </p:sp>
      <p:sp>
        <p:nvSpPr>
          <p:cNvPr id="12" name="TextBox 11"/>
          <p:cNvSpPr txBox="1"/>
          <p:nvPr/>
        </p:nvSpPr>
        <p:spPr>
          <a:xfrm>
            <a:off x="960120" y="1783080"/>
            <a:ext cx="7577328" cy="4524315"/>
          </a:xfrm>
          <a:prstGeom prst="rect">
            <a:avLst/>
          </a:prstGeom>
          <a:noFill/>
        </p:spPr>
        <p:txBody>
          <a:bodyPr wrap="square" lIns="45720" rIns="45720" anchor="t">
            <a:spAutoFit/>
          </a:bodyPr>
          <a:lstStyle/>
          <a:p>
            <a:pPr algn="l"/>
            <a:r>
              <a:rPr sz="2400" b="0" dirty="0" err="1">
                <a:solidFill>
                  <a:srgbClr val="1F2937"/>
                </a:solidFill>
                <a:latin typeface="Aptos"/>
              </a:rPr>
              <a:t>CampusConnect</a:t>
            </a:r>
            <a:r>
              <a:rPr sz="2400" b="0" dirty="0">
                <a:solidFill>
                  <a:srgbClr val="1F2937"/>
                </a:solidFill>
                <a:latin typeface="Aptos"/>
              </a:rPr>
              <a:t> is a full-stack web application designed to centralize college internship and placement activities. The platform provides role-based interfaces for students, recruiters and placement officers. The frontend is built with HTML, CSS and vanilla JavaScript, while the backend uses Node.js and Express.js with MySQL for data management.
The application supports opportunity discovery, applications, interview scheduling, profiles, approvals, rankings, reports, notifications and real-time student–recruiter communication.</a:t>
            </a:r>
          </a:p>
        </p:txBody>
      </p:sp>
      <p:sp>
        <p:nvSpPr>
          <p:cNvPr id="13" name="Rounded Rectangle 12"/>
          <p:cNvSpPr/>
          <p:nvPr/>
        </p:nvSpPr>
        <p:spPr>
          <a:xfrm>
            <a:off x="9509760" y="1790700"/>
            <a:ext cx="6035040" cy="123444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509760" y="1790700"/>
            <a:ext cx="73152" cy="1234440"/>
          </a:xfrm>
          <a:prstGeom prst="rect">
            <a:avLst/>
          </a:prstGeom>
          <a:solidFill>
            <a:srgbClr val="7C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0" y="1937004"/>
            <a:ext cx="5715000" cy="320040"/>
          </a:xfrm>
          <a:prstGeom prst="rect">
            <a:avLst/>
          </a:prstGeom>
          <a:noFill/>
        </p:spPr>
        <p:txBody>
          <a:bodyPr wrap="square" lIns="45720" rIns="45720" anchor="t">
            <a:spAutoFit/>
          </a:bodyPr>
          <a:lstStyle/>
          <a:p>
            <a:pPr algn="l"/>
            <a:r>
              <a:rPr sz="1600" b="1">
                <a:solidFill>
                  <a:srgbClr val="0B2B66"/>
                </a:solidFill>
                <a:latin typeface="Aptos"/>
              </a:rPr>
              <a:t>STUDENT</a:t>
            </a:r>
          </a:p>
        </p:txBody>
      </p:sp>
      <p:sp>
        <p:nvSpPr>
          <p:cNvPr id="16" name="TextBox 15"/>
          <p:cNvSpPr txBox="1"/>
          <p:nvPr/>
        </p:nvSpPr>
        <p:spPr>
          <a:xfrm>
            <a:off x="9692640" y="2321052"/>
            <a:ext cx="5715000" cy="576072"/>
          </a:xfrm>
          <a:prstGeom prst="rect">
            <a:avLst/>
          </a:prstGeom>
          <a:noFill/>
        </p:spPr>
        <p:txBody>
          <a:bodyPr wrap="square" lIns="45720" rIns="45720" anchor="t">
            <a:spAutoFit/>
          </a:bodyPr>
          <a:lstStyle/>
          <a:p>
            <a:pPr algn="l"/>
            <a:r>
              <a:rPr sz="1250" b="0">
                <a:solidFill>
                  <a:srgbClr val="1F2937"/>
                </a:solidFill>
                <a:latin typeface="Aptos"/>
              </a:rPr>
              <a:t>Profile • Opportunities • Applications • Interviews • Ranking</a:t>
            </a:r>
          </a:p>
        </p:txBody>
      </p:sp>
      <p:sp>
        <p:nvSpPr>
          <p:cNvPr id="17" name="Rounded Rectangle 16"/>
          <p:cNvSpPr/>
          <p:nvPr/>
        </p:nvSpPr>
        <p:spPr>
          <a:xfrm>
            <a:off x="9509760" y="3208020"/>
            <a:ext cx="6035040" cy="123444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09760" y="3208020"/>
            <a:ext cx="73152" cy="1234440"/>
          </a:xfrm>
          <a:prstGeom prst="rect">
            <a:avLst/>
          </a:prstGeom>
          <a:solidFill>
            <a:srgbClr val="22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0" y="3354324"/>
            <a:ext cx="5715000" cy="320040"/>
          </a:xfrm>
          <a:prstGeom prst="rect">
            <a:avLst/>
          </a:prstGeom>
          <a:noFill/>
        </p:spPr>
        <p:txBody>
          <a:bodyPr wrap="square" lIns="45720" rIns="45720" anchor="t">
            <a:spAutoFit/>
          </a:bodyPr>
          <a:lstStyle/>
          <a:p>
            <a:pPr algn="l"/>
            <a:r>
              <a:rPr sz="1600" b="1">
                <a:solidFill>
                  <a:srgbClr val="0B2B66"/>
                </a:solidFill>
                <a:latin typeface="Aptos"/>
              </a:rPr>
              <a:t>RECRUITER</a:t>
            </a:r>
          </a:p>
        </p:txBody>
      </p:sp>
      <p:sp>
        <p:nvSpPr>
          <p:cNvPr id="20" name="TextBox 19"/>
          <p:cNvSpPr txBox="1"/>
          <p:nvPr/>
        </p:nvSpPr>
        <p:spPr>
          <a:xfrm>
            <a:off x="9692640" y="3738372"/>
            <a:ext cx="5715000" cy="576072"/>
          </a:xfrm>
          <a:prstGeom prst="rect">
            <a:avLst/>
          </a:prstGeom>
          <a:noFill/>
        </p:spPr>
        <p:txBody>
          <a:bodyPr wrap="square" lIns="45720" rIns="45720" anchor="t">
            <a:spAutoFit/>
          </a:bodyPr>
          <a:lstStyle/>
          <a:p>
            <a:pPr algn="l"/>
            <a:r>
              <a:rPr sz="1250" b="0">
                <a:solidFill>
                  <a:srgbClr val="1F2937"/>
                </a:solidFill>
                <a:latin typeface="Aptos"/>
              </a:rPr>
              <a:t>Company profile • Job posts • Applicants • Interviews • Chat</a:t>
            </a:r>
          </a:p>
        </p:txBody>
      </p:sp>
      <p:sp>
        <p:nvSpPr>
          <p:cNvPr id="21" name="Rounded Rectangle 20"/>
          <p:cNvSpPr/>
          <p:nvPr/>
        </p:nvSpPr>
        <p:spPr>
          <a:xfrm>
            <a:off x="9509760" y="4625340"/>
            <a:ext cx="6035040" cy="123444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509760" y="4625340"/>
            <a:ext cx="73152" cy="1234440"/>
          </a:xfrm>
          <a:prstGeom prst="rect">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92640" y="4771644"/>
            <a:ext cx="5715000" cy="320040"/>
          </a:xfrm>
          <a:prstGeom prst="rect">
            <a:avLst/>
          </a:prstGeom>
          <a:noFill/>
        </p:spPr>
        <p:txBody>
          <a:bodyPr wrap="square" lIns="45720" rIns="45720" anchor="t">
            <a:spAutoFit/>
          </a:bodyPr>
          <a:lstStyle/>
          <a:p>
            <a:pPr algn="l"/>
            <a:r>
              <a:rPr sz="1600" b="1">
                <a:solidFill>
                  <a:srgbClr val="0B2B66"/>
                </a:solidFill>
                <a:latin typeface="Aptos"/>
              </a:rPr>
              <a:t>PLACEMENT OFFICER</a:t>
            </a:r>
          </a:p>
        </p:txBody>
      </p:sp>
      <p:sp>
        <p:nvSpPr>
          <p:cNvPr id="24" name="TextBox 23"/>
          <p:cNvSpPr txBox="1"/>
          <p:nvPr/>
        </p:nvSpPr>
        <p:spPr>
          <a:xfrm>
            <a:off x="9692640" y="5155692"/>
            <a:ext cx="5715000" cy="576072"/>
          </a:xfrm>
          <a:prstGeom prst="rect">
            <a:avLst/>
          </a:prstGeom>
          <a:noFill/>
        </p:spPr>
        <p:txBody>
          <a:bodyPr wrap="square" lIns="45720" rIns="45720" anchor="t">
            <a:spAutoFit/>
          </a:bodyPr>
          <a:lstStyle/>
          <a:p>
            <a:pPr algn="l"/>
            <a:r>
              <a:rPr sz="1250" b="0">
                <a:solidFill>
                  <a:srgbClr val="1F2937"/>
                </a:solidFill>
                <a:latin typeface="Aptos"/>
              </a:rPr>
              <a:t>Approvals • Users • Analytics • Reports • Governance</a:t>
            </a:r>
          </a:p>
        </p:txBody>
      </p:sp>
    </p:spTree>
    <p:extLst>
      <p:ext uri="{BB962C8B-B14F-4D97-AF65-F5344CB8AC3E}">
        <p14:creationId xmlns:p14="http://schemas.microsoft.com/office/powerpoint/2010/main" val="400058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E22E86B8-3075-280E-6F56-6CC5CA991E14}"/>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pSp>
        <p:nvGrpSpPr>
          <p:cNvPr id="3" name="Group 2">
            <a:extLst>
              <a:ext uri="{FF2B5EF4-FFF2-40B4-BE49-F238E27FC236}">
                <a16:creationId xmlns:a16="http://schemas.microsoft.com/office/drawing/2014/main" id="{04B69A0F-D218-3538-5BAA-6D1965CB1967}"/>
              </a:ext>
            </a:extLst>
          </p:cNvPr>
          <p:cNvGrpSpPr>
            <a:grpSpLocks noChangeAspect="1"/>
          </p:cNvGrpSpPr>
          <p:nvPr/>
        </p:nvGrpSpPr>
        <p:grpSpPr>
          <a:xfrm>
            <a:off x="1219200" y="9255919"/>
            <a:ext cx="15849600" cy="4762"/>
            <a:chOff x="0" y="0"/>
            <a:chExt cx="15849600" cy="4762"/>
          </a:xfrm>
        </p:grpSpPr>
        <p:sp>
          <p:nvSpPr>
            <p:cNvPr id="4" name="Freeform 4">
              <a:extLst>
                <a:ext uri="{FF2B5EF4-FFF2-40B4-BE49-F238E27FC236}">
                  <a16:creationId xmlns:a16="http://schemas.microsoft.com/office/drawing/2014/main" id="{D83DD6B2-AFE1-9771-0A6F-AF596921F8EA}"/>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TextBox 8">
            <a:extLst>
              <a:ext uri="{FF2B5EF4-FFF2-40B4-BE49-F238E27FC236}">
                <a16:creationId xmlns:a16="http://schemas.microsoft.com/office/drawing/2014/main" id="{6251FA49-E351-1900-219D-9CA816FA9BCA}"/>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6" name="TextBox 9">
            <a:extLst>
              <a:ext uri="{FF2B5EF4-FFF2-40B4-BE49-F238E27FC236}">
                <a16:creationId xmlns:a16="http://schemas.microsoft.com/office/drawing/2014/main" id="{872597CD-ED1A-779D-529A-790958CAA10C}"/>
              </a:ext>
            </a:extLst>
          </p:cNvPr>
          <p:cNvSpPr txBox="1"/>
          <p:nvPr/>
        </p:nvSpPr>
        <p:spPr>
          <a:xfrm>
            <a:off x="16831923"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5</a:t>
            </a:r>
            <a:endParaRPr lang="en-US" sz="1800" spc="-19" dirty="0">
              <a:solidFill>
                <a:srgbClr val="000000"/>
              </a:solidFill>
              <a:latin typeface="Montserrat"/>
              <a:ea typeface="Montserrat"/>
              <a:cs typeface="Montserrat"/>
              <a:sym typeface="Montserrat"/>
            </a:endParaRPr>
          </a:p>
        </p:txBody>
      </p:sp>
      <p:sp>
        <p:nvSpPr>
          <p:cNvPr id="7" name="TextBox 7">
            <a:extLst>
              <a:ext uri="{FF2B5EF4-FFF2-40B4-BE49-F238E27FC236}">
                <a16:creationId xmlns:a16="http://schemas.microsoft.com/office/drawing/2014/main" id="{617F2692-7DF6-2844-60D8-E91E69248AFE}"/>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9" name="TextBox 6">
            <a:extLst>
              <a:ext uri="{FF2B5EF4-FFF2-40B4-BE49-F238E27FC236}">
                <a16:creationId xmlns:a16="http://schemas.microsoft.com/office/drawing/2014/main" id="{039539A4-C17D-1A49-1E67-24E59DBB3C31}"/>
              </a:ext>
            </a:extLst>
          </p:cNvPr>
          <p:cNvSpPr txBox="1"/>
          <p:nvPr/>
        </p:nvSpPr>
        <p:spPr>
          <a:xfrm>
            <a:off x="3657600" y="502920"/>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HTML &amp; CSS IMPLEMENTATION</a:t>
            </a:r>
          </a:p>
        </p:txBody>
      </p:sp>
      <p:sp>
        <p:nvSpPr>
          <p:cNvPr id="10" name="TextBox 9"/>
          <p:cNvSpPr txBox="1"/>
          <p:nvPr/>
        </p:nvSpPr>
        <p:spPr>
          <a:xfrm>
            <a:off x="868680" y="1508760"/>
            <a:ext cx="5486400" cy="365760"/>
          </a:xfrm>
          <a:prstGeom prst="rect">
            <a:avLst/>
          </a:prstGeom>
          <a:noFill/>
        </p:spPr>
        <p:txBody>
          <a:bodyPr wrap="square" lIns="45720" rIns="45720" anchor="t">
            <a:spAutoFit/>
          </a:bodyPr>
          <a:lstStyle/>
          <a:p>
            <a:pPr algn="l"/>
            <a:r>
              <a:rPr sz="2000" b="1">
                <a:solidFill>
                  <a:srgbClr val="0B2B66"/>
                </a:solidFill>
                <a:latin typeface="Aptos"/>
              </a:rPr>
              <a:t>HTML5 provides the structure</a:t>
            </a:r>
          </a:p>
        </p:txBody>
      </p:sp>
      <p:sp>
        <p:nvSpPr>
          <p:cNvPr id="11" name="TextBox 10"/>
          <p:cNvSpPr txBox="1"/>
          <p:nvPr/>
        </p:nvSpPr>
        <p:spPr>
          <a:xfrm>
            <a:off x="868680" y="1920240"/>
            <a:ext cx="5212080" cy="1971309"/>
          </a:xfrm>
          <a:prstGeom prst="rect">
            <a:avLst/>
          </a:prstGeom>
          <a:noFill/>
        </p:spPr>
        <p:txBody>
          <a:bodyPr wrap="square" lIns="36576" tIns="27432" rIns="36576" bIns="27432">
            <a:spAutoFit/>
          </a:bodyPr>
          <a:lstStyle/>
          <a:p>
            <a:pPr>
              <a:spcAft>
                <a:spcPts val="500"/>
              </a:spcAft>
              <a:defRPr sz="1350">
                <a:solidFill>
                  <a:srgbClr val="1F2937"/>
                </a:solidFill>
                <a:latin typeface="Aptos"/>
              </a:defRPr>
            </a:pPr>
            <a:r>
              <a:rPr dirty="0"/>
              <a:t>•  </a:t>
            </a:r>
            <a:r>
              <a:rPr sz="1600" dirty="0"/>
              <a:t>Semantic sections: nav, main, section, article, footer</a:t>
            </a:r>
          </a:p>
          <a:p>
            <a:pPr>
              <a:spcAft>
                <a:spcPts val="500"/>
              </a:spcAft>
              <a:defRPr sz="1350">
                <a:solidFill>
                  <a:srgbClr val="1F2937"/>
                </a:solidFill>
                <a:latin typeface="Aptos"/>
              </a:defRPr>
            </a:pPr>
            <a:r>
              <a:rPr sz="1600" dirty="0"/>
              <a:t>•  Forms for login, registration, contact and profile workflows</a:t>
            </a:r>
          </a:p>
          <a:p>
            <a:pPr>
              <a:spcAft>
                <a:spcPts val="500"/>
              </a:spcAft>
              <a:defRPr sz="1350">
                <a:solidFill>
                  <a:srgbClr val="1F2937"/>
                </a:solidFill>
                <a:latin typeface="Aptos"/>
              </a:defRPr>
            </a:pPr>
            <a:r>
              <a:rPr sz="1600" dirty="0"/>
              <a:t>•  Buttons, inputs, selects, tables, lists and dynamic containers</a:t>
            </a:r>
          </a:p>
          <a:p>
            <a:pPr>
              <a:spcAft>
                <a:spcPts val="500"/>
              </a:spcAft>
              <a:defRPr sz="1350">
                <a:solidFill>
                  <a:srgbClr val="1F2937"/>
                </a:solidFill>
                <a:latin typeface="Aptos"/>
              </a:defRPr>
            </a:pPr>
            <a:r>
              <a:rPr sz="1600" dirty="0"/>
              <a:t>•  Accessibility attributes such as labels, aria-label and required fields</a:t>
            </a:r>
          </a:p>
        </p:txBody>
      </p:sp>
      <p:sp>
        <p:nvSpPr>
          <p:cNvPr id="12" name="Rounded Rectangle 11"/>
          <p:cNvSpPr/>
          <p:nvPr/>
        </p:nvSpPr>
        <p:spPr>
          <a:xfrm>
            <a:off x="868680" y="4152900"/>
            <a:ext cx="5486400" cy="3593569"/>
          </a:xfrm>
          <a:prstGeom prst="roundRect">
            <a:avLst/>
          </a:prstGeom>
          <a:solidFill>
            <a:srgbClr val="F8F9FC"/>
          </a:solidFill>
          <a:ln w="12700">
            <a:solidFill>
              <a:srgbClr val="DEE2EA"/>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l">
              <a:spcAft>
                <a:spcPts val="600"/>
              </a:spcAft>
            </a:pPr>
            <a:r>
              <a:rPr b="1" dirty="0">
                <a:solidFill>
                  <a:srgbClr val="E8191D"/>
                </a:solidFill>
                <a:latin typeface="Aptos"/>
              </a:rPr>
              <a:t>HTML FORM EXAMPLE</a:t>
            </a:r>
          </a:p>
          <a:p>
            <a:pPr algn="l">
              <a:spcAft>
                <a:spcPts val="0"/>
              </a:spcAft>
            </a:pPr>
            <a:r>
              <a:rPr b="0" dirty="0">
                <a:solidFill>
                  <a:srgbClr val="1F2937"/>
                </a:solidFill>
                <a:latin typeface="Aptos"/>
              </a:rPr>
              <a:t>&lt;form id="login-form" class="auth-form"&gt;
  &lt;label&gt;Email address
    &lt;input type="email" name="email" required&gt;
  &lt;/label&gt;
  &lt;button class="</a:t>
            </a:r>
            <a:r>
              <a:rPr b="0" dirty="0" err="1">
                <a:solidFill>
                  <a:srgbClr val="1F2937"/>
                </a:solidFill>
                <a:latin typeface="Aptos"/>
              </a:rPr>
              <a:t>btn</a:t>
            </a:r>
            <a:r>
              <a:rPr b="0" dirty="0">
                <a:solidFill>
                  <a:srgbClr val="1F2937"/>
                </a:solidFill>
                <a:latin typeface="Aptos"/>
              </a:rPr>
              <a:t> primary" type="submit"&gt;
    Sign in securely
  &lt;/button&gt;
&lt;/form&gt;</a:t>
            </a:r>
          </a:p>
        </p:txBody>
      </p:sp>
      <p:pic>
        <p:nvPicPr>
          <p:cNvPr id="14" name="Picture 13" descr="login.png"/>
          <p:cNvPicPr>
            <a:picLocks noChangeAspect="1"/>
          </p:cNvPicPr>
          <p:nvPr/>
        </p:nvPicPr>
        <p:blipFill>
          <a:blip r:embed="rId4"/>
          <a:stretch>
            <a:fillRect/>
          </a:stretch>
        </p:blipFill>
        <p:spPr>
          <a:xfrm>
            <a:off x="7391400" y="1554480"/>
            <a:ext cx="10218957" cy="4884000"/>
          </a:xfrm>
          <a:prstGeom prst="rect">
            <a:avLst/>
          </a:prstGeom>
        </p:spPr>
      </p:pic>
      <p:sp>
        <p:nvSpPr>
          <p:cNvPr id="15" name="TextBox 14"/>
          <p:cNvSpPr txBox="1"/>
          <p:nvPr/>
        </p:nvSpPr>
        <p:spPr>
          <a:xfrm>
            <a:off x="7513320" y="6555545"/>
            <a:ext cx="9631680" cy="369332"/>
          </a:xfrm>
          <a:prstGeom prst="rect">
            <a:avLst/>
          </a:prstGeom>
          <a:noFill/>
        </p:spPr>
        <p:txBody>
          <a:bodyPr wrap="square" lIns="45720" rIns="45720" anchor="t">
            <a:spAutoFit/>
          </a:bodyPr>
          <a:lstStyle/>
          <a:p>
            <a:pPr algn="ctr"/>
            <a:r>
              <a:rPr b="1" dirty="0">
                <a:solidFill>
                  <a:srgbClr val="E8191D"/>
                </a:solidFill>
                <a:latin typeface="Aptos"/>
              </a:rPr>
              <a:t>CSS3: Flexbox/Grid • responsive breakpoints • hover states • gradients • </a:t>
            </a:r>
            <a:r>
              <a:rPr b="1" dirty="0" err="1">
                <a:solidFill>
                  <a:srgbClr val="E8191D"/>
                </a:solidFill>
                <a:latin typeface="Aptos"/>
              </a:rPr>
              <a:t>glassmorphism</a:t>
            </a:r>
            <a:endParaRPr b="1" dirty="0">
              <a:solidFill>
                <a:srgbClr val="E8191D"/>
              </a:solidFill>
              <a:latin typeface="Aptos"/>
            </a:endParaRPr>
          </a:p>
        </p:txBody>
      </p:sp>
      <p:sp>
        <p:nvSpPr>
          <p:cNvPr id="16" name="TextBox 15"/>
          <p:cNvSpPr txBox="1"/>
          <p:nvPr/>
        </p:nvSpPr>
        <p:spPr>
          <a:xfrm>
            <a:off x="7985760" y="6924877"/>
            <a:ext cx="8686800" cy="646331"/>
          </a:xfrm>
          <a:prstGeom prst="rect">
            <a:avLst/>
          </a:prstGeom>
          <a:noFill/>
        </p:spPr>
        <p:txBody>
          <a:bodyPr wrap="square" lIns="45720" rIns="45720" anchor="t">
            <a:spAutoFit/>
          </a:bodyPr>
          <a:lstStyle/>
          <a:p>
            <a:pPr algn="ctr"/>
            <a:r>
              <a:rPr b="0" dirty="0">
                <a:solidFill>
                  <a:srgbClr val="1F2937"/>
                </a:solidFill>
                <a:latin typeface="Aptos"/>
              </a:rPr>
              <a:t>The stylesheet defines reusable buttons, cards, panels, dashboards and responsive layouts. Media queries adapt the interface for smaller screens.</a:t>
            </a:r>
          </a:p>
        </p:txBody>
      </p:sp>
    </p:spTree>
    <p:extLst>
      <p:ext uri="{BB962C8B-B14F-4D97-AF65-F5344CB8AC3E}">
        <p14:creationId xmlns:p14="http://schemas.microsoft.com/office/powerpoint/2010/main" val="35658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96902274-7379-2960-5A74-9BAC7B48E2FB}"/>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pSp>
        <p:nvGrpSpPr>
          <p:cNvPr id="3" name="Group 2">
            <a:extLst>
              <a:ext uri="{FF2B5EF4-FFF2-40B4-BE49-F238E27FC236}">
                <a16:creationId xmlns:a16="http://schemas.microsoft.com/office/drawing/2014/main" id="{2CAC0949-9C3B-0EE4-C955-EF78BA97F91B}"/>
              </a:ext>
            </a:extLst>
          </p:cNvPr>
          <p:cNvGrpSpPr>
            <a:grpSpLocks noChangeAspect="1"/>
          </p:cNvGrpSpPr>
          <p:nvPr/>
        </p:nvGrpSpPr>
        <p:grpSpPr>
          <a:xfrm>
            <a:off x="1219200" y="9255919"/>
            <a:ext cx="15849600" cy="4762"/>
            <a:chOff x="0" y="0"/>
            <a:chExt cx="15849600" cy="4762"/>
          </a:xfrm>
        </p:grpSpPr>
        <p:sp>
          <p:nvSpPr>
            <p:cNvPr id="4" name="Freeform 4">
              <a:extLst>
                <a:ext uri="{FF2B5EF4-FFF2-40B4-BE49-F238E27FC236}">
                  <a16:creationId xmlns:a16="http://schemas.microsoft.com/office/drawing/2014/main" id="{63CBC9B8-287C-3226-E124-8C1729787B83}"/>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TextBox 8">
            <a:extLst>
              <a:ext uri="{FF2B5EF4-FFF2-40B4-BE49-F238E27FC236}">
                <a16:creationId xmlns:a16="http://schemas.microsoft.com/office/drawing/2014/main" id="{BAEF2232-E02A-AE7E-8FB8-1DC92500706A}"/>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6" name="TextBox 9">
            <a:extLst>
              <a:ext uri="{FF2B5EF4-FFF2-40B4-BE49-F238E27FC236}">
                <a16:creationId xmlns:a16="http://schemas.microsoft.com/office/drawing/2014/main" id="{13DEBDEC-2EC9-35F7-34E5-F8CF117D52DF}"/>
              </a:ext>
            </a:extLst>
          </p:cNvPr>
          <p:cNvSpPr txBox="1"/>
          <p:nvPr/>
        </p:nvSpPr>
        <p:spPr>
          <a:xfrm>
            <a:off x="16831923"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6</a:t>
            </a:r>
            <a:endParaRPr lang="en-US" sz="1800" spc="-19" dirty="0">
              <a:solidFill>
                <a:srgbClr val="000000"/>
              </a:solidFill>
              <a:latin typeface="Montserrat"/>
              <a:ea typeface="Montserrat"/>
              <a:cs typeface="Montserrat"/>
              <a:sym typeface="Montserrat"/>
            </a:endParaRPr>
          </a:p>
        </p:txBody>
      </p:sp>
      <p:sp>
        <p:nvSpPr>
          <p:cNvPr id="7" name="TextBox 7">
            <a:extLst>
              <a:ext uri="{FF2B5EF4-FFF2-40B4-BE49-F238E27FC236}">
                <a16:creationId xmlns:a16="http://schemas.microsoft.com/office/drawing/2014/main" id="{AF022B7A-CF3F-8A74-B776-EB091862A3E7}"/>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9" name="TextBox 6">
            <a:extLst>
              <a:ext uri="{FF2B5EF4-FFF2-40B4-BE49-F238E27FC236}">
                <a16:creationId xmlns:a16="http://schemas.microsoft.com/office/drawing/2014/main" id="{FA58C3EB-761F-5EA2-543C-8F7932BC737A}"/>
              </a:ext>
            </a:extLst>
          </p:cNvPr>
          <p:cNvSpPr txBox="1"/>
          <p:nvPr/>
        </p:nvSpPr>
        <p:spPr>
          <a:xfrm>
            <a:off x="3657600" y="502920"/>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JAVASCRIPT – DOM, EVENTS &amp; DYNAMIC UI</a:t>
            </a:r>
          </a:p>
        </p:txBody>
      </p:sp>
      <p:pic>
        <p:nvPicPr>
          <p:cNvPr id="12" name="Picture 11" descr="student.png"/>
          <p:cNvPicPr>
            <a:picLocks noChangeAspect="1"/>
          </p:cNvPicPr>
          <p:nvPr/>
        </p:nvPicPr>
        <p:blipFill>
          <a:blip r:embed="rId4"/>
          <a:stretch>
            <a:fillRect/>
          </a:stretch>
        </p:blipFill>
        <p:spPr>
          <a:xfrm>
            <a:off x="914400" y="1550793"/>
            <a:ext cx="9677400" cy="5712354"/>
          </a:xfrm>
          <a:prstGeom prst="rect">
            <a:avLst/>
          </a:prstGeom>
        </p:spPr>
      </p:pic>
      <p:sp>
        <p:nvSpPr>
          <p:cNvPr id="13" name="TextBox 12"/>
          <p:cNvSpPr txBox="1"/>
          <p:nvPr/>
        </p:nvSpPr>
        <p:spPr>
          <a:xfrm>
            <a:off x="10881360" y="1550793"/>
            <a:ext cx="6217920" cy="461665"/>
          </a:xfrm>
          <a:prstGeom prst="rect">
            <a:avLst/>
          </a:prstGeom>
          <a:noFill/>
        </p:spPr>
        <p:txBody>
          <a:bodyPr wrap="square" lIns="45720" rIns="45720" anchor="t">
            <a:spAutoFit/>
          </a:bodyPr>
          <a:lstStyle/>
          <a:p>
            <a:pPr algn="l"/>
            <a:r>
              <a:rPr sz="2400" b="1" dirty="0">
                <a:solidFill>
                  <a:srgbClr val="0B2B66"/>
                </a:solidFill>
                <a:latin typeface="Aptos"/>
              </a:rPr>
              <a:t>Client-side interaction in </a:t>
            </a:r>
            <a:r>
              <a:rPr sz="2400" b="1" dirty="0" err="1">
                <a:solidFill>
                  <a:srgbClr val="0B2B66"/>
                </a:solidFill>
                <a:latin typeface="Aptos"/>
              </a:rPr>
              <a:t>CampusConnect</a:t>
            </a:r>
            <a:endParaRPr sz="2400" b="1" dirty="0">
              <a:solidFill>
                <a:srgbClr val="0B2B66"/>
              </a:solidFill>
              <a:latin typeface="Aptos"/>
            </a:endParaRPr>
          </a:p>
        </p:txBody>
      </p:sp>
      <p:sp>
        <p:nvSpPr>
          <p:cNvPr id="14" name="TextBox 13"/>
          <p:cNvSpPr txBox="1"/>
          <p:nvPr/>
        </p:nvSpPr>
        <p:spPr>
          <a:xfrm>
            <a:off x="10927080" y="2011680"/>
            <a:ext cx="6126480" cy="2030299"/>
          </a:xfrm>
          <a:prstGeom prst="rect">
            <a:avLst/>
          </a:prstGeom>
          <a:noFill/>
        </p:spPr>
        <p:txBody>
          <a:bodyPr wrap="square" lIns="36576" tIns="27432" rIns="36576" bIns="27432">
            <a:spAutoFit/>
          </a:bodyPr>
          <a:lstStyle/>
          <a:p>
            <a:pPr>
              <a:spcAft>
                <a:spcPts val="500"/>
              </a:spcAft>
              <a:defRPr sz="1350">
                <a:solidFill>
                  <a:srgbClr val="1F2937"/>
                </a:solidFill>
                <a:latin typeface="Aptos"/>
              </a:defRPr>
            </a:pPr>
            <a:r>
              <a:rPr sz="2000" dirty="0"/>
              <a:t>•  Event listeners handle click, change, submit and keyboard interactions.</a:t>
            </a:r>
          </a:p>
          <a:p>
            <a:pPr>
              <a:spcAft>
                <a:spcPts val="500"/>
              </a:spcAft>
              <a:defRPr sz="1350">
                <a:solidFill>
                  <a:srgbClr val="1F2937"/>
                </a:solidFill>
                <a:latin typeface="Aptos"/>
              </a:defRPr>
            </a:pPr>
            <a:r>
              <a:rPr sz="2000" dirty="0"/>
              <a:t>•  DOM updates render dashboards, tables, notifications and modal forms dynamically.</a:t>
            </a:r>
          </a:p>
          <a:p>
            <a:pPr>
              <a:spcAft>
                <a:spcPts val="500"/>
              </a:spcAft>
              <a:defRPr sz="1350">
                <a:solidFill>
                  <a:srgbClr val="1F2937"/>
                </a:solidFill>
                <a:latin typeface="Aptos"/>
              </a:defRPr>
            </a:pPr>
            <a:r>
              <a:rPr sz="2000" dirty="0"/>
              <a:t>•  </a:t>
            </a:r>
            <a:r>
              <a:rPr sz="2000" dirty="0" err="1"/>
              <a:t>FormData</a:t>
            </a:r>
            <a:r>
              <a:rPr sz="2000" dirty="0"/>
              <a:t> and fetch() connect user actions to backend APIs.</a:t>
            </a:r>
          </a:p>
        </p:txBody>
      </p:sp>
      <p:sp>
        <p:nvSpPr>
          <p:cNvPr id="15" name="Rounded Rectangle 14"/>
          <p:cNvSpPr/>
          <p:nvPr/>
        </p:nvSpPr>
        <p:spPr>
          <a:xfrm>
            <a:off x="10853681" y="4242873"/>
            <a:ext cx="6126480" cy="3020274"/>
          </a:xfrm>
          <a:prstGeom prst="roundRect">
            <a:avLst/>
          </a:prstGeom>
          <a:solidFill>
            <a:srgbClr val="F8F9FC"/>
          </a:solidFill>
          <a:ln w="12700">
            <a:solidFill>
              <a:srgbClr val="DEE2EA"/>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l">
              <a:spcAft>
                <a:spcPts val="600"/>
              </a:spcAft>
            </a:pPr>
            <a:r>
              <a:rPr sz="1600" b="1" dirty="0">
                <a:solidFill>
                  <a:srgbClr val="E8191D"/>
                </a:solidFill>
                <a:latin typeface="Aptos"/>
              </a:rPr>
              <a:t>JAVASCRIPT EVENT + API EXAMPLE</a:t>
            </a:r>
          </a:p>
          <a:p>
            <a:pPr algn="l">
              <a:spcAft>
                <a:spcPts val="0"/>
              </a:spcAft>
            </a:pPr>
            <a:r>
              <a:rPr sz="1600" b="0" dirty="0" err="1">
                <a:solidFill>
                  <a:srgbClr val="1F2937"/>
                </a:solidFill>
                <a:latin typeface="Aptos"/>
              </a:rPr>
              <a:t>document.addEventListener</a:t>
            </a:r>
            <a:r>
              <a:rPr sz="1600" b="0" dirty="0">
                <a:solidFill>
                  <a:srgbClr val="1F2937"/>
                </a:solidFill>
                <a:latin typeface="Aptos"/>
              </a:rPr>
              <a:t>('submit', async (event) =&gt; {
  const form = </a:t>
            </a:r>
            <a:r>
              <a:rPr sz="1600" b="0" dirty="0" err="1">
                <a:solidFill>
                  <a:srgbClr val="1F2937"/>
                </a:solidFill>
                <a:latin typeface="Aptos"/>
              </a:rPr>
              <a:t>event.target</a:t>
            </a:r>
            <a:r>
              <a:rPr sz="1600" b="0" dirty="0">
                <a:solidFill>
                  <a:srgbClr val="1F2937"/>
                </a:solidFill>
                <a:latin typeface="Aptos"/>
              </a:rPr>
              <a:t>;
  </a:t>
            </a:r>
            <a:r>
              <a:rPr sz="1600" b="0" dirty="0" err="1">
                <a:solidFill>
                  <a:srgbClr val="1F2937"/>
                </a:solidFill>
                <a:latin typeface="Aptos"/>
              </a:rPr>
              <a:t>event.preventDefault</a:t>
            </a:r>
            <a:r>
              <a:rPr sz="1600" b="0" dirty="0">
                <a:solidFill>
                  <a:srgbClr val="1F2937"/>
                </a:solidFill>
                <a:latin typeface="Aptos"/>
              </a:rPr>
              <a:t>();
  const result = await </a:t>
            </a:r>
            <a:r>
              <a:rPr sz="1600" b="0" dirty="0" err="1">
                <a:solidFill>
                  <a:srgbClr val="1F2937"/>
                </a:solidFill>
                <a:latin typeface="Aptos"/>
              </a:rPr>
              <a:t>api</a:t>
            </a:r>
            <a:r>
              <a:rPr sz="1600" b="0" dirty="0">
                <a:solidFill>
                  <a:srgbClr val="1F2937"/>
                </a:solidFill>
                <a:latin typeface="Aptos"/>
              </a:rPr>
              <a:t>('/profile', {
    method: 'PUT',
    body: </a:t>
            </a:r>
            <a:r>
              <a:rPr sz="1600" b="0" dirty="0" err="1">
                <a:solidFill>
                  <a:srgbClr val="1F2937"/>
                </a:solidFill>
                <a:latin typeface="Aptos"/>
              </a:rPr>
              <a:t>Object.fromEntries</a:t>
            </a:r>
            <a:r>
              <a:rPr sz="1600" b="0" dirty="0">
                <a:solidFill>
                  <a:srgbClr val="1F2937"/>
                </a:solidFill>
                <a:latin typeface="Aptos"/>
              </a:rPr>
              <a:t>(new </a:t>
            </a:r>
            <a:r>
              <a:rPr sz="1600" b="0" dirty="0" err="1">
                <a:solidFill>
                  <a:srgbClr val="1F2937"/>
                </a:solidFill>
                <a:latin typeface="Aptos"/>
              </a:rPr>
              <a:t>FormData</a:t>
            </a:r>
            <a:r>
              <a:rPr sz="1600" b="0" dirty="0">
                <a:solidFill>
                  <a:srgbClr val="1F2937"/>
                </a:solidFill>
                <a:latin typeface="Aptos"/>
              </a:rPr>
              <a:t>(form))
  });
  toast(</a:t>
            </a:r>
            <a:r>
              <a:rPr sz="1600" b="0" dirty="0" err="1">
                <a:solidFill>
                  <a:srgbClr val="1F2937"/>
                </a:solidFill>
                <a:latin typeface="Aptos"/>
              </a:rPr>
              <a:t>result.message</a:t>
            </a:r>
            <a:r>
              <a:rPr sz="1600" b="0" dirty="0">
                <a:solidFill>
                  <a:srgbClr val="1F2937"/>
                </a:solidFill>
                <a:latin typeface="Aptos"/>
              </a:rPr>
              <a:t>);
});</a:t>
            </a:r>
          </a:p>
        </p:txBody>
      </p:sp>
    </p:spTree>
    <p:extLst>
      <p:ext uri="{BB962C8B-B14F-4D97-AF65-F5344CB8AC3E}">
        <p14:creationId xmlns:p14="http://schemas.microsoft.com/office/powerpoint/2010/main" val="2299114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4D23F7D9-CF9D-65BF-0A33-075C90E84FD4}"/>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pSp>
        <p:nvGrpSpPr>
          <p:cNvPr id="3" name="Group 2">
            <a:extLst>
              <a:ext uri="{FF2B5EF4-FFF2-40B4-BE49-F238E27FC236}">
                <a16:creationId xmlns:a16="http://schemas.microsoft.com/office/drawing/2014/main" id="{5AE75020-37F4-14E1-0E86-B0E39F10C79D}"/>
              </a:ext>
            </a:extLst>
          </p:cNvPr>
          <p:cNvGrpSpPr>
            <a:grpSpLocks noChangeAspect="1"/>
          </p:cNvGrpSpPr>
          <p:nvPr/>
        </p:nvGrpSpPr>
        <p:grpSpPr>
          <a:xfrm>
            <a:off x="1219200" y="9255919"/>
            <a:ext cx="15849600" cy="4762"/>
            <a:chOff x="0" y="0"/>
            <a:chExt cx="15849600" cy="4762"/>
          </a:xfrm>
        </p:grpSpPr>
        <p:sp>
          <p:nvSpPr>
            <p:cNvPr id="4" name="Freeform 4">
              <a:extLst>
                <a:ext uri="{FF2B5EF4-FFF2-40B4-BE49-F238E27FC236}">
                  <a16:creationId xmlns:a16="http://schemas.microsoft.com/office/drawing/2014/main" id="{BF6152DA-C4F7-117B-29E0-7F5F2C3C7963}"/>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TextBox 8">
            <a:extLst>
              <a:ext uri="{FF2B5EF4-FFF2-40B4-BE49-F238E27FC236}">
                <a16:creationId xmlns:a16="http://schemas.microsoft.com/office/drawing/2014/main" id="{2CFAFD57-8DA8-2F12-8256-6E1FCEA41482}"/>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6" name="TextBox 9">
            <a:extLst>
              <a:ext uri="{FF2B5EF4-FFF2-40B4-BE49-F238E27FC236}">
                <a16:creationId xmlns:a16="http://schemas.microsoft.com/office/drawing/2014/main" id="{AF4BBB34-45EE-B2D1-E69B-0F0FF7DFC59F}"/>
              </a:ext>
            </a:extLst>
          </p:cNvPr>
          <p:cNvSpPr txBox="1"/>
          <p:nvPr/>
        </p:nvSpPr>
        <p:spPr>
          <a:xfrm>
            <a:off x="16831923"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7</a:t>
            </a:r>
            <a:endParaRPr lang="en-US" sz="1800" spc="-19" dirty="0">
              <a:solidFill>
                <a:srgbClr val="000000"/>
              </a:solidFill>
              <a:latin typeface="Montserrat"/>
              <a:ea typeface="Montserrat"/>
              <a:cs typeface="Montserrat"/>
              <a:sym typeface="Montserrat"/>
            </a:endParaRPr>
          </a:p>
        </p:txBody>
      </p:sp>
      <p:sp>
        <p:nvSpPr>
          <p:cNvPr id="7" name="TextBox 7">
            <a:extLst>
              <a:ext uri="{FF2B5EF4-FFF2-40B4-BE49-F238E27FC236}">
                <a16:creationId xmlns:a16="http://schemas.microsoft.com/office/drawing/2014/main" id="{F429E0D4-4499-6235-A480-7876834CB1DB}"/>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9" name="TextBox 6">
            <a:extLst>
              <a:ext uri="{FF2B5EF4-FFF2-40B4-BE49-F238E27FC236}">
                <a16:creationId xmlns:a16="http://schemas.microsoft.com/office/drawing/2014/main" id="{A86B5397-52E7-C9F4-D324-5AB8998904CC}"/>
              </a:ext>
            </a:extLst>
          </p:cNvPr>
          <p:cNvSpPr txBox="1"/>
          <p:nvPr/>
        </p:nvSpPr>
        <p:spPr>
          <a:xfrm>
            <a:off x="3657600" y="502920"/>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USER MODULES &amp; INTERFACES</a:t>
            </a:r>
          </a:p>
        </p:txBody>
      </p:sp>
      <p:pic>
        <p:nvPicPr>
          <p:cNvPr id="11" name="Picture 10" descr="student.png"/>
          <p:cNvPicPr>
            <a:picLocks noChangeAspect="1"/>
          </p:cNvPicPr>
          <p:nvPr/>
        </p:nvPicPr>
        <p:blipFill>
          <a:blip r:embed="rId4"/>
          <a:stretch>
            <a:fillRect/>
          </a:stretch>
        </p:blipFill>
        <p:spPr>
          <a:xfrm>
            <a:off x="758952" y="1667685"/>
            <a:ext cx="5277856" cy="3008378"/>
          </a:xfrm>
          <a:prstGeom prst="rect">
            <a:avLst/>
          </a:prstGeom>
        </p:spPr>
      </p:pic>
      <p:pic>
        <p:nvPicPr>
          <p:cNvPr id="13" name="Picture 12" descr="recruiter.png"/>
          <p:cNvPicPr>
            <a:picLocks noChangeAspect="1"/>
          </p:cNvPicPr>
          <p:nvPr/>
        </p:nvPicPr>
        <p:blipFill>
          <a:blip r:embed="rId5"/>
          <a:stretch>
            <a:fillRect/>
          </a:stretch>
        </p:blipFill>
        <p:spPr>
          <a:xfrm>
            <a:off x="6248400" y="1667685"/>
            <a:ext cx="5277856" cy="3008378"/>
          </a:xfrm>
          <a:prstGeom prst="rect">
            <a:avLst/>
          </a:prstGeom>
        </p:spPr>
      </p:pic>
      <p:pic>
        <p:nvPicPr>
          <p:cNvPr id="15" name="Picture 14" descr="admin.png"/>
          <p:cNvPicPr>
            <a:picLocks noChangeAspect="1"/>
          </p:cNvPicPr>
          <p:nvPr/>
        </p:nvPicPr>
        <p:blipFill>
          <a:blip r:embed="rId6"/>
          <a:stretch>
            <a:fillRect/>
          </a:stretch>
        </p:blipFill>
        <p:spPr>
          <a:xfrm>
            <a:off x="11790944" y="1690783"/>
            <a:ext cx="5277856" cy="3008378"/>
          </a:xfrm>
          <a:prstGeom prst="rect">
            <a:avLst/>
          </a:prstGeom>
        </p:spPr>
      </p:pic>
      <p:sp>
        <p:nvSpPr>
          <p:cNvPr id="16" name="Rounded Rectangle 15"/>
          <p:cNvSpPr/>
          <p:nvPr/>
        </p:nvSpPr>
        <p:spPr>
          <a:xfrm>
            <a:off x="914400" y="4991100"/>
            <a:ext cx="4572000" cy="150876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14400" y="4991100"/>
            <a:ext cx="73152" cy="1508760"/>
          </a:xfrm>
          <a:prstGeom prst="rect">
            <a:avLst/>
          </a:prstGeom>
          <a:solidFill>
            <a:srgbClr val="7C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5137404"/>
            <a:ext cx="4251960" cy="320040"/>
          </a:xfrm>
          <a:prstGeom prst="rect">
            <a:avLst/>
          </a:prstGeom>
          <a:noFill/>
        </p:spPr>
        <p:txBody>
          <a:bodyPr wrap="square" lIns="45720" rIns="45720" anchor="t">
            <a:spAutoFit/>
          </a:bodyPr>
          <a:lstStyle/>
          <a:p>
            <a:pPr algn="l"/>
            <a:r>
              <a:rPr sz="1600" b="1">
                <a:solidFill>
                  <a:srgbClr val="0B2B66"/>
                </a:solidFill>
                <a:latin typeface="Aptos"/>
              </a:rPr>
              <a:t>STUDENT PORTAL</a:t>
            </a:r>
          </a:p>
        </p:txBody>
      </p:sp>
      <p:sp>
        <p:nvSpPr>
          <p:cNvPr id="19" name="TextBox 18"/>
          <p:cNvSpPr txBox="1"/>
          <p:nvPr/>
        </p:nvSpPr>
        <p:spPr>
          <a:xfrm>
            <a:off x="1097280" y="5521452"/>
            <a:ext cx="4251960" cy="584775"/>
          </a:xfrm>
          <a:prstGeom prst="rect">
            <a:avLst/>
          </a:prstGeom>
          <a:noFill/>
        </p:spPr>
        <p:txBody>
          <a:bodyPr wrap="square" lIns="45720" rIns="45720" anchor="t">
            <a:spAutoFit/>
          </a:bodyPr>
          <a:lstStyle/>
          <a:p>
            <a:pPr algn="l"/>
            <a:r>
              <a:rPr sz="1600" b="0" dirty="0">
                <a:solidFill>
                  <a:srgbClr val="1F2937"/>
                </a:solidFill>
                <a:latin typeface="Aptos"/>
              </a:rPr>
              <a:t>Opportunities • Applications • Saved jobs • Interviews • Profile • Ranking</a:t>
            </a:r>
          </a:p>
        </p:txBody>
      </p:sp>
      <p:sp>
        <p:nvSpPr>
          <p:cNvPr id="20" name="Rounded Rectangle 19"/>
          <p:cNvSpPr/>
          <p:nvPr/>
        </p:nvSpPr>
        <p:spPr>
          <a:xfrm>
            <a:off x="6477000" y="5006340"/>
            <a:ext cx="4572000" cy="150876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77000" y="5006340"/>
            <a:ext cx="73152" cy="1508760"/>
          </a:xfrm>
          <a:prstGeom prst="rect">
            <a:avLst/>
          </a:prstGeom>
          <a:solidFill>
            <a:srgbClr val="22A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59880" y="5152644"/>
            <a:ext cx="4251960" cy="320040"/>
          </a:xfrm>
          <a:prstGeom prst="rect">
            <a:avLst/>
          </a:prstGeom>
          <a:noFill/>
        </p:spPr>
        <p:txBody>
          <a:bodyPr wrap="square" lIns="45720" rIns="45720" anchor="t">
            <a:spAutoFit/>
          </a:bodyPr>
          <a:lstStyle/>
          <a:p>
            <a:pPr algn="l"/>
            <a:r>
              <a:rPr sz="1600" b="1">
                <a:solidFill>
                  <a:srgbClr val="0B2B66"/>
                </a:solidFill>
                <a:latin typeface="Aptos"/>
              </a:rPr>
              <a:t>RECRUITER PORTAL</a:t>
            </a:r>
          </a:p>
        </p:txBody>
      </p:sp>
      <p:sp>
        <p:nvSpPr>
          <p:cNvPr id="23" name="TextBox 22"/>
          <p:cNvSpPr txBox="1"/>
          <p:nvPr/>
        </p:nvSpPr>
        <p:spPr>
          <a:xfrm>
            <a:off x="6659880" y="5536692"/>
            <a:ext cx="4251960" cy="584775"/>
          </a:xfrm>
          <a:prstGeom prst="rect">
            <a:avLst/>
          </a:prstGeom>
          <a:noFill/>
        </p:spPr>
        <p:txBody>
          <a:bodyPr wrap="square" lIns="45720" rIns="45720" anchor="t">
            <a:spAutoFit/>
          </a:bodyPr>
          <a:lstStyle/>
          <a:p>
            <a:pPr algn="l"/>
            <a:r>
              <a:rPr sz="1600" b="0" dirty="0">
                <a:solidFill>
                  <a:srgbClr val="1F2937"/>
                </a:solidFill>
                <a:latin typeface="Aptos"/>
              </a:rPr>
              <a:t>Job posts • Applicants • Talent pool • Interviews • Company profile</a:t>
            </a:r>
          </a:p>
        </p:txBody>
      </p:sp>
      <p:sp>
        <p:nvSpPr>
          <p:cNvPr id="24" name="Rounded Rectangle 23"/>
          <p:cNvSpPr/>
          <p:nvPr/>
        </p:nvSpPr>
        <p:spPr>
          <a:xfrm>
            <a:off x="11963400" y="5006340"/>
            <a:ext cx="4572000" cy="1508760"/>
          </a:xfrm>
          <a:prstGeom prst="roundRect">
            <a:avLst/>
          </a:prstGeom>
          <a:solidFill>
            <a:srgbClr val="FFFFFF"/>
          </a:solidFill>
          <a:ln w="1270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963400" y="5006340"/>
            <a:ext cx="73152" cy="1508760"/>
          </a:xfrm>
          <a:prstGeom prst="rect">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146280" y="5152644"/>
            <a:ext cx="4251960" cy="320040"/>
          </a:xfrm>
          <a:prstGeom prst="rect">
            <a:avLst/>
          </a:prstGeom>
          <a:noFill/>
        </p:spPr>
        <p:txBody>
          <a:bodyPr wrap="square" lIns="45720" rIns="45720" anchor="t">
            <a:spAutoFit/>
          </a:bodyPr>
          <a:lstStyle/>
          <a:p>
            <a:pPr algn="l"/>
            <a:r>
              <a:rPr sz="1600" b="1">
                <a:solidFill>
                  <a:srgbClr val="0B2B66"/>
                </a:solidFill>
                <a:latin typeface="Aptos"/>
              </a:rPr>
              <a:t>ADMIN / PLACEMENT OFFICER</a:t>
            </a:r>
          </a:p>
        </p:txBody>
      </p:sp>
      <p:sp>
        <p:nvSpPr>
          <p:cNvPr id="27" name="TextBox 26"/>
          <p:cNvSpPr txBox="1"/>
          <p:nvPr/>
        </p:nvSpPr>
        <p:spPr>
          <a:xfrm>
            <a:off x="12146280" y="5536692"/>
            <a:ext cx="4251960" cy="584775"/>
          </a:xfrm>
          <a:prstGeom prst="rect">
            <a:avLst/>
          </a:prstGeom>
          <a:noFill/>
        </p:spPr>
        <p:txBody>
          <a:bodyPr wrap="square" lIns="45720" rIns="45720" anchor="t">
            <a:spAutoFit/>
          </a:bodyPr>
          <a:lstStyle/>
          <a:p>
            <a:pPr algn="l"/>
            <a:r>
              <a:rPr sz="1600" b="0" dirty="0">
                <a:solidFill>
                  <a:srgbClr val="1F2937"/>
                </a:solidFill>
                <a:latin typeface="Aptos"/>
              </a:rPr>
              <a:t>Approvals • Users • Jobs • Analytics • Reports • Activity logs</a:t>
            </a:r>
          </a:p>
        </p:txBody>
      </p:sp>
    </p:spTree>
    <p:extLst>
      <p:ext uri="{BB962C8B-B14F-4D97-AF65-F5344CB8AC3E}">
        <p14:creationId xmlns:p14="http://schemas.microsoft.com/office/powerpoint/2010/main" val="3333355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0A4A05DD-4319-4474-0B12-CF81416ABDB5}"/>
              </a:ext>
            </a:extLst>
          </p:cNvPr>
          <p:cNvPicPr>
            <a:picLocks noChangeAspect="1"/>
          </p:cNvPicPr>
          <p:nvPr/>
        </p:nvPicPr>
        <p:blipFill>
          <a:blip r:embed="rId2"/>
          <a:stretch>
            <a:fillRect/>
          </a:stretch>
        </p:blipFill>
        <p:spPr>
          <a:xfrm>
            <a:off x="1419945" y="5067300"/>
            <a:ext cx="3249450" cy="2085013"/>
          </a:xfrm>
          <a:prstGeom prst="rect">
            <a:avLst/>
          </a:prstGeom>
        </p:spPr>
      </p:pic>
      <p:pic>
        <p:nvPicPr>
          <p:cNvPr id="44" name="Picture 43">
            <a:extLst>
              <a:ext uri="{FF2B5EF4-FFF2-40B4-BE49-F238E27FC236}">
                <a16:creationId xmlns:a16="http://schemas.microsoft.com/office/drawing/2014/main" id="{803C6D62-3920-039C-51FC-E2A4F64C0088}"/>
              </a:ext>
            </a:extLst>
          </p:cNvPr>
          <p:cNvPicPr>
            <a:picLocks noChangeAspect="1"/>
          </p:cNvPicPr>
          <p:nvPr/>
        </p:nvPicPr>
        <p:blipFill>
          <a:blip r:embed="rId2"/>
          <a:stretch>
            <a:fillRect/>
          </a:stretch>
        </p:blipFill>
        <p:spPr>
          <a:xfrm>
            <a:off x="7104606" y="5123713"/>
            <a:ext cx="3249450" cy="2085013"/>
          </a:xfrm>
          <a:prstGeom prst="rect">
            <a:avLst/>
          </a:prstGeom>
        </p:spPr>
      </p:pic>
      <p:pic>
        <p:nvPicPr>
          <p:cNvPr id="43" name="Picture 42">
            <a:extLst>
              <a:ext uri="{FF2B5EF4-FFF2-40B4-BE49-F238E27FC236}">
                <a16:creationId xmlns:a16="http://schemas.microsoft.com/office/drawing/2014/main" id="{B4587EA7-3A6A-1ED5-0C59-FA367A73F59A}"/>
              </a:ext>
            </a:extLst>
          </p:cNvPr>
          <p:cNvPicPr>
            <a:picLocks noChangeAspect="1"/>
          </p:cNvPicPr>
          <p:nvPr/>
        </p:nvPicPr>
        <p:blipFill>
          <a:blip r:embed="rId2"/>
          <a:stretch>
            <a:fillRect/>
          </a:stretch>
        </p:blipFill>
        <p:spPr>
          <a:xfrm>
            <a:off x="12752550" y="5123714"/>
            <a:ext cx="3249450" cy="2085013"/>
          </a:xfrm>
          <a:prstGeom prst="rect">
            <a:avLst/>
          </a:prstGeom>
        </p:spPr>
      </p:pic>
      <p:pic>
        <p:nvPicPr>
          <p:cNvPr id="42" name="Picture 41">
            <a:extLst>
              <a:ext uri="{FF2B5EF4-FFF2-40B4-BE49-F238E27FC236}">
                <a16:creationId xmlns:a16="http://schemas.microsoft.com/office/drawing/2014/main" id="{17A6BC38-FC17-8B69-4530-CB5F31577066}"/>
              </a:ext>
            </a:extLst>
          </p:cNvPr>
          <p:cNvPicPr>
            <a:picLocks noChangeAspect="1"/>
          </p:cNvPicPr>
          <p:nvPr/>
        </p:nvPicPr>
        <p:blipFill>
          <a:blip r:embed="rId3"/>
          <a:stretch>
            <a:fillRect/>
          </a:stretch>
        </p:blipFill>
        <p:spPr>
          <a:xfrm>
            <a:off x="1474950" y="2324100"/>
            <a:ext cx="3249450" cy="2085013"/>
          </a:xfrm>
          <a:prstGeom prst="rect">
            <a:avLst/>
          </a:prstGeom>
        </p:spPr>
      </p:pic>
      <p:pic>
        <p:nvPicPr>
          <p:cNvPr id="41" name="Picture 40">
            <a:extLst>
              <a:ext uri="{FF2B5EF4-FFF2-40B4-BE49-F238E27FC236}">
                <a16:creationId xmlns:a16="http://schemas.microsoft.com/office/drawing/2014/main" id="{A82CC669-C405-2BF4-D5C5-B7B21C9C0802}"/>
              </a:ext>
            </a:extLst>
          </p:cNvPr>
          <p:cNvPicPr>
            <a:picLocks noChangeAspect="1"/>
          </p:cNvPicPr>
          <p:nvPr/>
        </p:nvPicPr>
        <p:blipFill>
          <a:blip r:embed="rId3"/>
          <a:stretch>
            <a:fillRect/>
          </a:stretch>
        </p:blipFill>
        <p:spPr>
          <a:xfrm>
            <a:off x="7113750" y="2324100"/>
            <a:ext cx="3249450" cy="2085013"/>
          </a:xfrm>
          <a:prstGeom prst="rect">
            <a:avLst/>
          </a:prstGeom>
        </p:spPr>
      </p:pic>
      <p:sp>
        <p:nvSpPr>
          <p:cNvPr id="2" name="Freeform 5">
            <a:extLst>
              <a:ext uri="{FF2B5EF4-FFF2-40B4-BE49-F238E27FC236}">
                <a16:creationId xmlns:a16="http://schemas.microsoft.com/office/drawing/2014/main" id="{0BA9F02A-0BC6-023E-0BA0-A98420F73451}"/>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grpSp>
        <p:nvGrpSpPr>
          <p:cNvPr id="3" name="Group 2">
            <a:extLst>
              <a:ext uri="{FF2B5EF4-FFF2-40B4-BE49-F238E27FC236}">
                <a16:creationId xmlns:a16="http://schemas.microsoft.com/office/drawing/2014/main" id="{97948B4E-B9F3-0D59-9681-E6C932A8DB83}"/>
              </a:ext>
            </a:extLst>
          </p:cNvPr>
          <p:cNvGrpSpPr>
            <a:grpSpLocks noChangeAspect="1"/>
          </p:cNvGrpSpPr>
          <p:nvPr/>
        </p:nvGrpSpPr>
        <p:grpSpPr>
          <a:xfrm>
            <a:off x="1219200" y="9255919"/>
            <a:ext cx="15849600" cy="4762"/>
            <a:chOff x="0" y="0"/>
            <a:chExt cx="15849600" cy="4762"/>
          </a:xfrm>
        </p:grpSpPr>
        <p:sp>
          <p:nvSpPr>
            <p:cNvPr id="4" name="Freeform 4">
              <a:extLst>
                <a:ext uri="{FF2B5EF4-FFF2-40B4-BE49-F238E27FC236}">
                  <a16:creationId xmlns:a16="http://schemas.microsoft.com/office/drawing/2014/main" id="{7A4081B4-C7C2-97E1-D4F5-85944A1BB160}"/>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TextBox 8">
            <a:extLst>
              <a:ext uri="{FF2B5EF4-FFF2-40B4-BE49-F238E27FC236}">
                <a16:creationId xmlns:a16="http://schemas.microsoft.com/office/drawing/2014/main" id="{ECBD775C-3C30-398A-C4CD-EDABB84B6B79}"/>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6" name="TextBox 9">
            <a:extLst>
              <a:ext uri="{FF2B5EF4-FFF2-40B4-BE49-F238E27FC236}">
                <a16:creationId xmlns:a16="http://schemas.microsoft.com/office/drawing/2014/main" id="{2DF523A1-533B-D5D5-A285-00C5973BEE00}"/>
              </a:ext>
            </a:extLst>
          </p:cNvPr>
          <p:cNvSpPr txBox="1"/>
          <p:nvPr/>
        </p:nvSpPr>
        <p:spPr>
          <a:xfrm>
            <a:off x="16840200"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8</a:t>
            </a:r>
            <a:endParaRPr lang="en-US" sz="1800" spc="-19" dirty="0">
              <a:solidFill>
                <a:srgbClr val="000000"/>
              </a:solidFill>
              <a:latin typeface="Montserrat"/>
              <a:ea typeface="Montserrat"/>
              <a:cs typeface="Montserrat"/>
              <a:sym typeface="Montserrat"/>
            </a:endParaRPr>
          </a:p>
        </p:txBody>
      </p:sp>
      <p:sp>
        <p:nvSpPr>
          <p:cNvPr id="7" name="TextBox 7">
            <a:extLst>
              <a:ext uri="{FF2B5EF4-FFF2-40B4-BE49-F238E27FC236}">
                <a16:creationId xmlns:a16="http://schemas.microsoft.com/office/drawing/2014/main" id="{B338B77F-A670-C232-BD85-ED95DDB5EF61}"/>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8" name="TextBox 6">
            <a:extLst>
              <a:ext uri="{FF2B5EF4-FFF2-40B4-BE49-F238E27FC236}">
                <a16:creationId xmlns:a16="http://schemas.microsoft.com/office/drawing/2014/main" id="{A0522991-055E-BBB9-11FE-7E29B938925C}"/>
              </a:ext>
            </a:extLst>
          </p:cNvPr>
          <p:cNvSpPr txBox="1"/>
          <p:nvPr/>
        </p:nvSpPr>
        <p:spPr>
          <a:xfrm>
            <a:off x="3927348" y="474393"/>
            <a:ext cx="9372600" cy="475488"/>
          </a:xfrm>
          <a:prstGeom prst="rect">
            <a:avLst/>
          </a:prstGeom>
        </p:spPr>
        <p:txBody>
          <a:bodyPr wrap="square" lIns="0" tIns="0" rIns="0" bIns="0" rtlCol="0" anchor="ctr">
            <a:spAutoFit/>
          </a:bodyPr>
          <a:lstStyle/>
          <a:p>
            <a:pPr algn="ctr">
              <a:lnSpc>
                <a:spcPts val="8760"/>
              </a:lnSpc>
              <a:spcAft>
                <a:spcPts val="0"/>
              </a:spcAft>
            </a:pPr>
            <a:r>
              <a:rPr sz="2200" b="1">
                <a:solidFill>
                  <a:srgbClr val="0B2B66"/>
                </a:solidFill>
                <a:latin typeface="Aptos"/>
              </a:rPr>
              <a:t>METHODOLOGY</a:t>
            </a:r>
          </a:p>
        </p:txBody>
      </p:sp>
      <p:sp>
        <p:nvSpPr>
          <p:cNvPr id="9" name="TextBox 8"/>
          <p:cNvSpPr txBox="1"/>
          <p:nvPr/>
        </p:nvSpPr>
        <p:spPr>
          <a:xfrm>
            <a:off x="1737360" y="1576848"/>
            <a:ext cx="13716000" cy="411480"/>
          </a:xfrm>
          <a:prstGeom prst="rect">
            <a:avLst/>
          </a:prstGeom>
          <a:noFill/>
        </p:spPr>
        <p:txBody>
          <a:bodyPr wrap="square" lIns="45720" rIns="45720" anchor="t">
            <a:spAutoFit/>
          </a:bodyPr>
          <a:lstStyle/>
          <a:p>
            <a:pPr algn="ctr"/>
            <a:r>
              <a:rPr sz="2000" b="1">
                <a:solidFill>
                  <a:srgbClr val="0B2B66"/>
                </a:solidFill>
                <a:latin typeface="Aptos"/>
              </a:rPr>
              <a:t>How the web application works</a:t>
            </a:r>
          </a:p>
        </p:txBody>
      </p:sp>
      <p:sp>
        <p:nvSpPr>
          <p:cNvPr id="11" name="TextBox 10"/>
          <p:cNvSpPr txBox="1"/>
          <p:nvPr/>
        </p:nvSpPr>
        <p:spPr>
          <a:xfrm>
            <a:off x="2069310" y="2585497"/>
            <a:ext cx="1920240" cy="461665"/>
          </a:xfrm>
          <a:prstGeom prst="rect">
            <a:avLst/>
          </a:prstGeom>
          <a:noFill/>
        </p:spPr>
        <p:txBody>
          <a:bodyPr wrap="square" lIns="45720" rIns="45720" anchor="t">
            <a:spAutoFit/>
          </a:bodyPr>
          <a:lstStyle/>
          <a:p>
            <a:pPr algn="ctr"/>
            <a:r>
              <a:rPr sz="2400" b="1" dirty="0">
                <a:solidFill>
                  <a:srgbClr val="E8191D"/>
                </a:solidFill>
                <a:latin typeface="Aptos"/>
              </a:rPr>
              <a:t>1</a:t>
            </a:r>
          </a:p>
        </p:txBody>
      </p:sp>
      <p:sp>
        <p:nvSpPr>
          <p:cNvPr id="12" name="TextBox 11"/>
          <p:cNvSpPr txBox="1"/>
          <p:nvPr/>
        </p:nvSpPr>
        <p:spPr>
          <a:xfrm>
            <a:off x="2084550" y="2966497"/>
            <a:ext cx="1920240" cy="400110"/>
          </a:xfrm>
          <a:prstGeom prst="rect">
            <a:avLst/>
          </a:prstGeom>
          <a:noFill/>
        </p:spPr>
        <p:txBody>
          <a:bodyPr wrap="square" lIns="45720" rIns="45720" anchor="t">
            <a:spAutoFit/>
          </a:bodyPr>
          <a:lstStyle/>
          <a:p>
            <a:pPr algn="ctr"/>
            <a:r>
              <a:rPr sz="2000" b="1" dirty="0">
                <a:solidFill>
                  <a:srgbClr val="0B2B66"/>
                </a:solidFill>
                <a:latin typeface="Aptos"/>
              </a:rPr>
              <a:t>User Interface</a:t>
            </a:r>
          </a:p>
        </p:txBody>
      </p:sp>
      <p:sp>
        <p:nvSpPr>
          <p:cNvPr id="13" name="TextBox 12"/>
          <p:cNvSpPr txBox="1"/>
          <p:nvPr/>
        </p:nvSpPr>
        <p:spPr>
          <a:xfrm>
            <a:off x="2069310" y="3423697"/>
            <a:ext cx="1920240" cy="365760"/>
          </a:xfrm>
          <a:prstGeom prst="rect">
            <a:avLst/>
          </a:prstGeom>
          <a:noFill/>
        </p:spPr>
        <p:txBody>
          <a:bodyPr wrap="square" lIns="45720" rIns="45720" anchor="t">
            <a:spAutoFit/>
          </a:bodyPr>
          <a:lstStyle/>
          <a:p>
            <a:pPr algn="ctr"/>
            <a:r>
              <a:rPr b="0" dirty="0">
                <a:solidFill>
                  <a:srgbClr val="1F2937"/>
                </a:solidFill>
                <a:latin typeface="Aptos"/>
              </a:rPr>
              <a:t>HTML + CSS</a:t>
            </a:r>
          </a:p>
        </p:txBody>
      </p:sp>
      <p:sp>
        <p:nvSpPr>
          <p:cNvPr id="14" name="Right Arrow 13"/>
          <p:cNvSpPr/>
          <p:nvPr/>
        </p:nvSpPr>
        <p:spPr>
          <a:xfrm>
            <a:off x="5608320" y="3246120"/>
            <a:ext cx="411480" cy="411480"/>
          </a:xfrm>
          <a:prstGeom prst="rightArrow">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87499" y="2708239"/>
            <a:ext cx="1920240" cy="461665"/>
          </a:xfrm>
          <a:prstGeom prst="rect">
            <a:avLst/>
          </a:prstGeom>
          <a:noFill/>
        </p:spPr>
        <p:txBody>
          <a:bodyPr wrap="square" lIns="45720" rIns="45720" anchor="t">
            <a:spAutoFit/>
          </a:bodyPr>
          <a:lstStyle/>
          <a:p>
            <a:pPr algn="ctr"/>
            <a:r>
              <a:rPr sz="2400" b="1" dirty="0">
                <a:solidFill>
                  <a:srgbClr val="E8191D"/>
                </a:solidFill>
                <a:latin typeface="Aptos"/>
              </a:rPr>
              <a:t>2</a:t>
            </a:r>
          </a:p>
        </p:txBody>
      </p:sp>
      <p:sp>
        <p:nvSpPr>
          <p:cNvPr id="17" name="TextBox 16"/>
          <p:cNvSpPr txBox="1"/>
          <p:nvPr/>
        </p:nvSpPr>
        <p:spPr>
          <a:xfrm>
            <a:off x="7769211" y="3046566"/>
            <a:ext cx="1920240" cy="461665"/>
          </a:xfrm>
          <a:prstGeom prst="rect">
            <a:avLst/>
          </a:prstGeom>
          <a:noFill/>
        </p:spPr>
        <p:txBody>
          <a:bodyPr wrap="square" lIns="45720" rIns="45720" anchor="t">
            <a:spAutoFit/>
          </a:bodyPr>
          <a:lstStyle/>
          <a:p>
            <a:pPr algn="ctr"/>
            <a:r>
              <a:rPr sz="2400" b="1" dirty="0">
                <a:solidFill>
                  <a:srgbClr val="0B2B66"/>
                </a:solidFill>
                <a:latin typeface="Aptos"/>
              </a:rPr>
              <a:t>Interaction</a:t>
            </a:r>
          </a:p>
        </p:txBody>
      </p:sp>
      <p:sp>
        <p:nvSpPr>
          <p:cNvPr id="18" name="TextBox 17"/>
          <p:cNvSpPr txBox="1"/>
          <p:nvPr/>
        </p:nvSpPr>
        <p:spPr>
          <a:xfrm>
            <a:off x="7338525" y="3454475"/>
            <a:ext cx="2786790" cy="369332"/>
          </a:xfrm>
          <a:prstGeom prst="rect">
            <a:avLst/>
          </a:prstGeom>
          <a:noFill/>
        </p:spPr>
        <p:txBody>
          <a:bodyPr wrap="square" lIns="45720" rIns="45720" anchor="t">
            <a:spAutoFit/>
          </a:bodyPr>
          <a:lstStyle/>
          <a:p>
            <a:pPr algn="ctr"/>
            <a:r>
              <a:rPr b="0" dirty="0">
                <a:solidFill>
                  <a:srgbClr val="1F2937"/>
                </a:solidFill>
                <a:latin typeface="Aptos"/>
              </a:rPr>
              <a:t>JavaScript + DOM + Events</a:t>
            </a:r>
          </a:p>
        </p:txBody>
      </p:sp>
      <p:sp>
        <p:nvSpPr>
          <p:cNvPr id="19" name="Right Arrow 18"/>
          <p:cNvSpPr/>
          <p:nvPr/>
        </p:nvSpPr>
        <p:spPr>
          <a:xfrm>
            <a:off x="11018520" y="3208020"/>
            <a:ext cx="411480" cy="411480"/>
          </a:xfrm>
          <a:prstGeom prst="rightArrow">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2752550" y="2344673"/>
            <a:ext cx="3154678" cy="1989314"/>
          </a:xfrm>
          <a:prstGeom prst="roundRect">
            <a:avLst/>
          </a:prstGeom>
          <a:solidFill>
            <a:srgbClr val="FFFFFF"/>
          </a:solidFill>
          <a:ln>
            <a:solidFill>
              <a:srgbClr val="DE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360624" y="2512080"/>
            <a:ext cx="1920240" cy="461665"/>
          </a:xfrm>
          <a:prstGeom prst="rect">
            <a:avLst/>
          </a:prstGeom>
          <a:noFill/>
        </p:spPr>
        <p:txBody>
          <a:bodyPr wrap="square" lIns="45720" rIns="45720" anchor="t">
            <a:spAutoFit/>
          </a:bodyPr>
          <a:lstStyle/>
          <a:p>
            <a:pPr algn="ctr"/>
            <a:r>
              <a:rPr sz="2400" b="1" dirty="0">
                <a:solidFill>
                  <a:srgbClr val="E8191D"/>
                </a:solidFill>
                <a:latin typeface="Aptos"/>
              </a:rPr>
              <a:t>3</a:t>
            </a:r>
          </a:p>
        </p:txBody>
      </p:sp>
      <p:sp>
        <p:nvSpPr>
          <p:cNvPr id="22" name="TextBox 21"/>
          <p:cNvSpPr txBox="1"/>
          <p:nvPr/>
        </p:nvSpPr>
        <p:spPr>
          <a:xfrm>
            <a:off x="13136596" y="2835508"/>
            <a:ext cx="2537459" cy="461665"/>
          </a:xfrm>
          <a:prstGeom prst="rect">
            <a:avLst/>
          </a:prstGeom>
          <a:noFill/>
        </p:spPr>
        <p:txBody>
          <a:bodyPr wrap="square" lIns="45720" rIns="45720" anchor="t">
            <a:spAutoFit/>
          </a:bodyPr>
          <a:lstStyle/>
          <a:p>
            <a:pPr algn="ctr"/>
            <a:r>
              <a:rPr sz="2400" b="1" dirty="0">
                <a:solidFill>
                  <a:srgbClr val="0B2B66"/>
                </a:solidFill>
                <a:latin typeface="Aptos"/>
              </a:rPr>
              <a:t>Communication</a:t>
            </a:r>
          </a:p>
        </p:txBody>
      </p:sp>
      <p:sp>
        <p:nvSpPr>
          <p:cNvPr id="23" name="TextBox 22"/>
          <p:cNvSpPr txBox="1"/>
          <p:nvPr/>
        </p:nvSpPr>
        <p:spPr>
          <a:xfrm>
            <a:off x="13360624" y="3487673"/>
            <a:ext cx="1920240" cy="365760"/>
          </a:xfrm>
          <a:prstGeom prst="rect">
            <a:avLst/>
          </a:prstGeom>
          <a:noFill/>
        </p:spPr>
        <p:txBody>
          <a:bodyPr wrap="square" lIns="45720" rIns="45720" anchor="t">
            <a:spAutoFit/>
          </a:bodyPr>
          <a:lstStyle/>
          <a:p>
            <a:pPr algn="ctr"/>
            <a:r>
              <a:rPr b="0" dirty="0">
                <a:solidFill>
                  <a:srgbClr val="1F2937"/>
                </a:solidFill>
                <a:latin typeface="Aptos"/>
              </a:rPr>
              <a:t>fetch() + REST API</a:t>
            </a:r>
          </a:p>
        </p:txBody>
      </p:sp>
      <p:sp>
        <p:nvSpPr>
          <p:cNvPr id="24" name="Right Arrow 23"/>
          <p:cNvSpPr/>
          <p:nvPr/>
        </p:nvSpPr>
        <p:spPr>
          <a:xfrm rot="5400000">
            <a:off x="14142720" y="4533900"/>
            <a:ext cx="411480" cy="411480"/>
          </a:xfrm>
          <a:prstGeom prst="rightArrow">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362150" y="5336379"/>
            <a:ext cx="1920240" cy="461665"/>
          </a:xfrm>
          <a:prstGeom prst="rect">
            <a:avLst/>
          </a:prstGeom>
          <a:noFill/>
        </p:spPr>
        <p:txBody>
          <a:bodyPr wrap="square" lIns="45720" rIns="45720" anchor="t">
            <a:spAutoFit/>
          </a:bodyPr>
          <a:lstStyle/>
          <a:p>
            <a:pPr algn="ctr"/>
            <a:r>
              <a:rPr sz="2400" b="1" dirty="0">
                <a:solidFill>
                  <a:srgbClr val="E8191D"/>
                </a:solidFill>
                <a:latin typeface="Aptos"/>
              </a:rPr>
              <a:t>4</a:t>
            </a:r>
          </a:p>
        </p:txBody>
      </p:sp>
      <p:sp>
        <p:nvSpPr>
          <p:cNvPr id="27" name="TextBox 26"/>
          <p:cNvSpPr txBox="1"/>
          <p:nvPr/>
        </p:nvSpPr>
        <p:spPr>
          <a:xfrm>
            <a:off x="13322092" y="5781122"/>
            <a:ext cx="1920240" cy="400110"/>
          </a:xfrm>
          <a:prstGeom prst="rect">
            <a:avLst/>
          </a:prstGeom>
          <a:noFill/>
        </p:spPr>
        <p:txBody>
          <a:bodyPr wrap="square" lIns="45720" rIns="45720" anchor="t">
            <a:spAutoFit/>
          </a:bodyPr>
          <a:lstStyle/>
          <a:p>
            <a:pPr algn="ctr"/>
            <a:r>
              <a:rPr sz="2000" b="1" dirty="0">
                <a:solidFill>
                  <a:srgbClr val="0B2B66"/>
                </a:solidFill>
                <a:latin typeface="Aptos"/>
              </a:rPr>
              <a:t>Server Logic</a:t>
            </a:r>
          </a:p>
        </p:txBody>
      </p:sp>
      <p:sp>
        <p:nvSpPr>
          <p:cNvPr id="28" name="TextBox 27"/>
          <p:cNvSpPr txBox="1"/>
          <p:nvPr/>
        </p:nvSpPr>
        <p:spPr>
          <a:xfrm>
            <a:off x="13120985" y="6205945"/>
            <a:ext cx="2402569" cy="369332"/>
          </a:xfrm>
          <a:prstGeom prst="rect">
            <a:avLst/>
          </a:prstGeom>
          <a:noFill/>
        </p:spPr>
        <p:txBody>
          <a:bodyPr wrap="square" lIns="45720" rIns="45720" anchor="t">
            <a:spAutoFit/>
          </a:bodyPr>
          <a:lstStyle/>
          <a:p>
            <a:pPr algn="ctr"/>
            <a:r>
              <a:rPr b="0" dirty="0">
                <a:solidFill>
                  <a:srgbClr val="1F2937"/>
                </a:solidFill>
                <a:latin typeface="Aptos"/>
              </a:rPr>
              <a:t>Node.js + Express.js</a:t>
            </a:r>
          </a:p>
        </p:txBody>
      </p:sp>
      <p:sp>
        <p:nvSpPr>
          <p:cNvPr id="29" name="Right Arrow 28"/>
          <p:cNvSpPr/>
          <p:nvPr/>
        </p:nvSpPr>
        <p:spPr>
          <a:xfrm rot="10800000">
            <a:off x="5608320" y="5905500"/>
            <a:ext cx="411480" cy="411480"/>
          </a:xfrm>
          <a:prstGeom prst="rightArrow">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57160" y="5345881"/>
            <a:ext cx="1920240" cy="461665"/>
          </a:xfrm>
          <a:prstGeom prst="rect">
            <a:avLst/>
          </a:prstGeom>
          <a:noFill/>
        </p:spPr>
        <p:txBody>
          <a:bodyPr wrap="square" lIns="45720" rIns="45720" anchor="t">
            <a:spAutoFit/>
          </a:bodyPr>
          <a:lstStyle/>
          <a:p>
            <a:pPr algn="ctr"/>
            <a:r>
              <a:rPr sz="2400" b="1" dirty="0">
                <a:solidFill>
                  <a:srgbClr val="E8191D"/>
                </a:solidFill>
                <a:latin typeface="Aptos"/>
              </a:rPr>
              <a:t>5</a:t>
            </a:r>
          </a:p>
        </p:txBody>
      </p:sp>
      <p:sp>
        <p:nvSpPr>
          <p:cNvPr id="32" name="TextBox 31"/>
          <p:cNvSpPr txBox="1"/>
          <p:nvPr/>
        </p:nvSpPr>
        <p:spPr>
          <a:xfrm>
            <a:off x="7772400" y="5765897"/>
            <a:ext cx="1920240" cy="400110"/>
          </a:xfrm>
          <a:prstGeom prst="rect">
            <a:avLst/>
          </a:prstGeom>
          <a:noFill/>
        </p:spPr>
        <p:txBody>
          <a:bodyPr wrap="square" lIns="45720" rIns="45720" anchor="t">
            <a:spAutoFit/>
          </a:bodyPr>
          <a:lstStyle/>
          <a:p>
            <a:pPr algn="ctr"/>
            <a:r>
              <a:rPr sz="2000" b="1" dirty="0">
                <a:solidFill>
                  <a:srgbClr val="0B2B66"/>
                </a:solidFill>
                <a:latin typeface="Aptos"/>
              </a:rPr>
              <a:t>Data Layer</a:t>
            </a:r>
          </a:p>
        </p:txBody>
      </p:sp>
      <p:sp>
        <p:nvSpPr>
          <p:cNvPr id="33" name="TextBox 32"/>
          <p:cNvSpPr txBox="1"/>
          <p:nvPr/>
        </p:nvSpPr>
        <p:spPr>
          <a:xfrm>
            <a:off x="7712919" y="6201247"/>
            <a:ext cx="1920240" cy="365760"/>
          </a:xfrm>
          <a:prstGeom prst="rect">
            <a:avLst/>
          </a:prstGeom>
          <a:noFill/>
        </p:spPr>
        <p:txBody>
          <a:bodyPr wrap="square" lIns="45720" rIns="45720" anchor="t">
            <a:spAutoFit/>
          </a:bodyPr>
          <a:lstStyle/>
          <a:p>
            <a:pPr algn="ctr"/>
            <a:r>
              <a:rPr b="0" dirty="0">
                <a:solidFill>
                  <a:srgbClr val="1F2937"/>
                </a:solidFill>
                <a:latin typeface="Aptos"/>
              </a:rPr>
              <a:t>MySQL</a:t>
            </a:r>
          </a:p>
        </p:txBody>
      </p:sp>
      <p:sp>
        <p:nvSpPr>
          <p:cNvPr id="34" name="Right Arrow 33"/>
          <p:cNvSpPr/>
          <p:nvPr/>
        </p:nvSpPr>
        <p:spPr>
          <a:xfrm rot="10800000">
            <a:off x="11049000" y="5875019"/>
            <a:ext cx="411480" cy="411480"/>
          </a:xfrm>
          <a:prstGeom prst="rightArrow">
            <a:avLst/>
          </a:prstGeom>
          <a:solidFill>
            <a:srgbClr val="E8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997522" y="5345881"/>
            <a:ext cx="1920240" cy="461665"/>
          </a:xfrm>
          <a:prstGeom prst="rect">
            <a:avLst/>
          </a:prstGeom>
          <a:noFill/>
        </p:spPr>
        <p:txBody>
          <a:bodyPr wrap="square" lIns="45720" rIns="45720" anchor="t">
            <a:spAutoFit/>
          </a:bodyPr>
          <a:lstStyle/>
          <a:p>
            <a:pPr algn="ctr"/>
            <a:r>
              <a:rPr sz="2400" b="1" dirty="0">
                <a:solidFill>
                  <a:srgbClr val="E8191D"/>
                </a:solidFill>
                <a:latin typeface="Aptos"/>
              </a:rPr>
              <a:t>6</a:t>
            </a:r>
          </a:p>
        </p:txBody>
      </p:sp>
      <p:sp>
        <p:nvSpPr>
          <p:cNvPr id="37" name="TextBox 36"/>
          <p:cNvSpPr txBox="1"/>
          <p:nvPr/>
        </p:nvSpPr>
        <p:spPr>
          <a:xfrm>
            <a:off x="2024593" y="5816429"/>
            <a:ext cx="1920240" cy="400110"/>
          </a:xfrm>
          <a:prstGeom prst="rect">
            <a:avLst/>
          </a:prstGeom>
          <a:noFill/>
        </p:spPr>
        <p:txBody>
          <a:bodyPr wrap="square" lIns="45720" rIns="45720" anchor="t">
            <a:spAutoFit/>
          </a:bodyPr>
          <a:lstStyle/>
          <a:p>
            <a:pPr algn="ctr"/>
            <a:r>
              <a:rPr sz="2000" b="1" dirty="0">
                <a:solidFill>
                  <a:srgbClr val="0B2B66"/>
                </a:solidFill>
                <a:latin typeface="Aptos"/>
              </a:rPr>
              <a:t>Real-time</a:t>
            </a:r>
          </a:p>
        </p:txBody>
      </p:sp>
      <p:sp>
        <p:nvSpPr>
          <p:cNvPr id="38" name="TextBox 37"/>
          <p:cNvSpPr txBox="1"/>
          <p:nvPr/>
        </p:nvSpPr>
        <p:spPr>
          <a:xfrm>
            <a:off x="1997522" y="6166221"/>
            <a:ext cx="1920240" cy="365760"/>
          </a:xfrm>
          <a:prstGeom prst="rect">
            <a:avLst/>
          </a:prstGeom>
          <a:noFill/>
        </p:spPr>
        <p:txBody>
          <a:bodyPr wrap="square" lIns="45720" rIns="45720" anchor="t">
            <a:spAutoFit/>
          </a:bodyPr>
          <a:lstStyle/>
          <a:p>
            <a:pPr algn="ctr"/>
            <a:r>
              <a:rPr b="0" dirty="0">
                <a:solidFill>
                  <a:srgbClr val="1F2937"/>
                </a:solidFill>
                <a:latin typeface="Aptos"/>
              </a:rPr>
              <a:t>Socket.IO</a:t>
            </a:r>
          </a:p>
        </p:txBody>
      </p:sp>
      <p:sp>
        <p:nvSpPr>
          <p:cNvPr id="39" name="TextBox 38"/>
          <p:cNvSpPr txBox="1"/>
          <p:nvPr/>
        </p:nvSpPr>
        <p:spPr>
          <a:xfrm>
            <a:off x="2438400" y="7440232"/>
            <a:ext cx="12801600" cy="646331"/>
          </a:xfrm>
          <a:prstGeom prst="rect">
            <a:avLst/>
          </a:prstGeom>
          <a:noFill/>
        </p:spPr>
        <p:txBody>
          <a:bodyPr wrap="square" lIns="45720" rIns="45720" anchor="t">
            <a:spAutoFit/>
          </a:bodyPr>
          <a:lstStyle/>
          <a:p>
            <a:pPr algn="ctr"/>
            <a:r>
              <a:rPr b="0" dirty="0">
                <a:solidFill>
                  <a:srgbClr val="1F2937"/>
                </a:solidFill>
                <a:latin typeface="Aptos"/>
              </a:rPr>
              <a:t>Development approach: design the interface → implement client-side behavior → connect APIs → persist data → add role-based and real-time features → test the complete flow.</a:t>
            </a:r>
          </a:p>
        </p:txBody>
      </p:sp>
    </p:spTree>
    <p:extLst>
      <p:ext uri="{BB962C8B-B14F-4D97-AF65-F5344CB8AC3E}">
        <p14:creationId xmlns:p14="http://schemas.microsoft.com/office/powerpoint/2010/main" val="622736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1D368658-75C9-4CCF-5E95-868F35C9D7C7}"/>
              </a:ext>
            </a:extLst>
          </p:cNvPr>
          <p:cNvSpPr/>
          <p:nvPr/>
        </p:nvSpPr>
        <p:spPr>
          <a:xfrm>
            <a:off x="1219200" y="1261872"/>
            <a:ext cx="15925800" cy="50292"/>
          </a:xfrm>
          <a:custGeom>
            <a:avLst/>
            <a:gdLst/>
            <a:ahLst/>
            <a:cxnLst/>
            <a:rect l="l" t="t" r="r" b="b"/>
            <a:pathLst>
              <a:path w="16050797" h="305591">
                <a:moveTo>
                  <a:pt x="0" y="0"/>
                </a:moveTo>
                <a:lnTo>
                  <a:pt x="16050797" y="0"/>
                </a:lnTo>
                <a:lnTo>
                  <a:pt x="16050797" y="305591"/>
                </a:lnTo>
                <a:lnTo>
                  <a:pt x="0" y="3055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a:p>
        </p:txBody>
      </p:sp>
      <p:grpSp>
        <p:nvGrpSpPr>
          <p:cNvPr id="3" name="Group 2">
            <a:extLst>
              <a:ext uri="{FF2B5EF4-FFF2-40B4-BE49-F238E27FC236}">
                <a16:creationId xmlns:a16="http://schemas.microsoft.com/office/drawing/2014/main" id="{EDC36B6C-7D1D-1BFB-ADFD-B950C7E0BF39}"/>
              </a:ext>
            </a:extLst>
          </p:cNvPr>
          <p:cNvGrpSpPr>
            <a:grpSpLocks noChangeAspect="1"/>
          </p:cNvGrpSpPr>
          <p:nvPr/>
        </p:nvGrpSpPr>
        <p:grpSpPr>
          <a:xfrm>
            <a:off x="1219200" y="9255919"/>
            <a:ext cx="15849600" cy="4762"/>
            <a:chOff x="0" y="0"/>
            <a:chExt cx="15849600" cy="4762"/>
          </a:xfrm>
        </p:grpSpPr>
        <p:sp>
          <p:nvSpPr>
            <p:cNvPr id="4" name="Freeform 4">
              <a:extLst>
                <a:ext uri="{FF2B5EF4-FFF2-40B4-BE49-F238E27FC236}">
                  <a16:creationId xmlns:a16="http://schemas.microsoft.com/office/drawing/2014/main" id="{4F35C279-0989-841C-B13F-6809ADDFDC8F}"/>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TextBox 8">
            <a:extLst>
              <a:ext uri="{FF2B5EF4-FFF2-40B4-BE49-F238E27FC236}">
                <a16:creationId xmlns:a16="http://schemas.microsoft.com/office/drawing/2014/main" id="{FEDE64C9-1ADF-E516-5D6D-39C182CDE5EE}"/>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dirty="0">
                <a:solidFill>
                  <a:srgbClr val="000000"/>
                </a:solidFill>
                <a:latin typeface="Montserrat"/>
                <a:ea typeface="Montserrat"/>
                <a:cs typeface="Montserrat"/>
                <a:sym typeface="Montserrat"/>
              </a:rPr>
              <a:t>Department of Computer Science and Engineering</a:t>
            </a:r>
          </a:p>
        </p:txBody>
      </p:sp>
      <p:sp>
        <p:nvSpPr>
          <p:cNvPr id="6" name="TextBox 9">
            <a:extLst>
              <a:ext uri="{FF2B5EF4-FFF2-40B4-BE49-F238E27FC236}">
                <a16:creationId xmlns:a16="http://schemas.microsoft.com/office/drawing/2014/main" id="{09D8C7A8-2895-ADF2-F831-4A9F853FEC08}"/>
              </a:ext>
            </a:extLst>
          </p:cNvPr>
          <p:cNvSpPr txBox="1"/>
          <p:nvPr/>
        </p:nvSpPr>
        <p:spPr>
          <a:xfrm>
            <a:off x="16831923" y="9377810"/>
            <a:ext cx="148238" cy="297517"/>
          </a:xfrm>
          <a:prstGeom prst="rect">
            <a:avLst/>
          </a:prstGeom>
        </p:spPr>
        <p:txBody>
          <a:bodyPr wrap="square" lIns="0" tIns="0" rIns="0" bIns="0" rtlCol="0" anchor="ctr">
            <a:spAutoFit/>
          </a:bodyPr>
          <a:lstStyle/>
          <a:p>
            <a:pPr algn="ctr">
              <a:lnSpc>
                <a:spcPts val="2520"/>
              </a:lnSpc>
            </a:pPr>
            <a:r>
              <a:rPr sz="900" b="0">
                <a:solidFill>
                  <a:srgbClr val="525C6E"/>
                </a:solidFill>
                <a:latin typeface="Aptos"/>
              </a:rPr>
              <a:t>9</a:t>
            </a:r>
            <a:endParaRPr lang="en-US" sz="1800" spc="-19" dirty="0">
              <a:solidFill>
                <a:srgbClr val="000000"/>
              </a:solidFill>
              <a:latin typeface="Montserrat"/>
              <a:ea typeface="Montserrat"/>
              <a:cs typeface="Montserrat"/>
              <a:sym typeface="Montserrat"/>
            </a:endParaRPr>
          </a:p>
        </p:txBody>
      </p:sp>
      <p:sp>
        <p:nvSpPr>
          <p:cNvPr id="7" name="TextBox 7">
            <a:extLst>
              <a:ext uri="{FF2B5EF4-FFF2-40B4-BE49-F238E27FC236}">
                <a16:creationId xmlns:a16="http://schemas.microsoft.com/office/drawing/2014/main" id="{5B14D720-39FB-E083-8224-B8ABBBB55B16}"/>
              </a:ext>
            </a:extLst>
          </p:cNvPr>
          <p:cNvSpPr txBox="1"/>
          <p:nvPr/>
        </p:nvSpPr>
        <p:spPr>
          <a:xfrm>
            <a:off x="1310640" y="9377810"/>
            <a:ext cx="1425559" cy="313296"/>
          </a:xfrm>
          <a:prstGeom prst="rect">
            <a:avLst/>
          </a:prstGeom>
        </p:spPr>
        <p:txBody>
          <a:bodyPr wrap="square" lIns="0" tIns="0" rIns="0" bIns="0" rtlCol="0" anchor="ctr">
            <a:spAutoFit/>
          </a:bodyPr>
          <a:lstStyle/>
          <a:p>
            <a:pPr algn="l">
              <a:lnSpc>
                <a:spcPts val="2520"/>
              </a:lnSpc>
            </a:pPr>
            <a:r>
              <a:rPr sz="900" b="0">
                <a:solidFill>
                  <a:srgbClr val="E8191D"/>
                </a:solidFill>
                <a:latin typeface="Aptos"/>
              </a:rPr>
              <a:t>Project Review</a:t>
            </a:r>
          </a:p>
        </p:txBody>
      </p:sp>
      <p:sp>
        <p:nvSpPr>
          <p:cNvPr id="8" name="TextBox 6">
            <a:extLst>
              <a:ext uri="{FF2B5EF4-FFF2-40B4-BE49-F238E27FC236}">
                <a16:creationId xmlns:a16="http://schemas.microsoft.com/office/drawing/2014/main" id="{42FEBC28-3C16-D9EB-4F7D-B82C55B4AE21}"/>
              </a:ext>
            </a:extLst>
          </p:cNvPr>
          <p:cNvSpPr txBox="1"/>
          <p:nvPr/>
        </p:nvSpPr>
        <p:spPr>
          <a:xfrm>
            <a:off x="4259580" y="442192"/>
            <a:ext cx="9372600" cy="475488"/>
          </a:xfrm>
          <a:prstGeom prst="rect">
            <a:avLst/>
          </a:prstGeom>
        </p:spPr>
        <p:txBody>
          <a:bodyPr wrap="square" lIns="0" tIns="0" rIns="0" bIns="0" rtlCol="0" anchor="ctr">
            <a:spAutoFit/>
          </a:bodyPr>
          <a:lstStyle/>
          <a:p>
            <a:pPr algn="ctr">
              <a:lnSpc>
                <a:spcPts val="8760"/>
              </a:lnSpc>
              <a:spcAft>
                <a:spcPts val="0"/>
              </a:spcAft>
            </a:pPr>
            <a:r>
              <a:rPr sz="2200" b="1" dirty="0">
                <a:solidFill>
                  <a:srgbClr val="0B2B66"/>
                </a:solidFill>
                <a:latin typeface="Aptos"/>
              </a:rPr>
              <a:t>SYSTEM ARCHITECTURE</a:t>
            </a:r>
          </a:p>
        </p:txBody>
      </p:sp>
      <p:sp>
        <p:nvSpPr>
          <p:cNvPr id="10" name="Rounded Rectangle 9"/>
          <p:cNvSpPr/>
          <p:nvPr/>
        </p:nvSpPr>
        <p:spPr>
          <a:xfrm>
            <a:off x="3931920" y="1687532"/>
            <a:ext cx="10424160" cy="786384"/>
          </a:xfrm>
          <a:prstGeom prst="roundRect">
            <a:avLst/>
          </a:prstGeom>
          <a:solidFill>
            <a:srgbClr val="FFFFFF"/>
          </a:solidFill>
          <a:ln w="25400">
            <a:solidFill>
              <a:srgbClr val="7C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60520" y="1778972"/>
            <a:ext cx="2926080" cy="400110"/>
          </a:xfrm>
          <a:prstGeom prst="rect">
            <a:avLst/>
          </a:prstGeom>
          <a:noFill/>
        </p:spPr>
        <p:txBody>
          <a:bodyPr wrap="square" lIns="45720" rIns="45720" anchor="t">
            <a:spAutoFit/>
          </a:bodyPr>
          <a:lstStyle/>
          <a:p>
            <a:pPr algn="l"/>
            <a:r>
              <a:rPr sz="2000" b="1" dirty="0">
                <a:solidFill>
                  <a:srgbClr val="7C4BE2"/>
                </a:solidFill>
                <a:latin typeface="Aptos"/>
              </a:rPr>
              <a:t>CLIENT / FRONTEND</a:t>
            </a:r>
          </a:p>
        </p:txBody>
      </p:sp>
      <p:sp>
        <p:nvSpPr>
          <p:cNvPr id="12" name="TextBox 11"/>
          <p:cNvSpPr txBox="1"/>
          <p:nvPr/>
        </p:nvSpPr>
        <p:spPr>
          <a:xfrm>
            <a:off x="6858000" y="1778972"/>
            <a:ext cx="7132320" cy="369332"/>
          </a:xfrm>
          <a:prstGeom prst="rect">
            <a:avLst/>
          </a:prstGeom>
          <a:noFill/>
        </p:spPr>
        <p:txBody>
          <a:bodyPr wrap="square" lIns="45720" rIns="45720" anchor="t">
            <a:spAutoFit/>
          </a:bodyPr>
          <a:lstStyle/>
          <a:p>
            <a:pPr algn="ctr"/>
            <a:r>
              <a:rPr b="0" dirty="0">
                <a:solidFill>
                  <a:srgbClr val="1F2937"/>
                </a:solidFill>
                <a:latin typeface="Aptos"/>
              </a:rPr>
              <a:t>HTML5  •  CSS3  •  Vanilla JavaScript</a:t>
            </a:r>
          </a:p>
        </p:txBody>
      </p:sp>
      <p:sp>
        <p:nvSpPr>
          <p:cNvPr id="13" name="Down Arrow 12"/>
          <p:cNvSpPr/>
          <p:nvPr/>
        </p:nvSpPr>
        <p:spPr>
          <a:xfrm>
            <a:off x="8442960" y="2590290"/>
            <a:ext cx="502920" cy="434764"/>
          </a:xfrm>
          <a:prstGeom prst="downArrow">
            <a:avLst/>
          </a:prstGeom>
          <a:solidFill>
            <a:srgbClr val="A0A5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919381" y="3162300"/>
            <a:ext cx="10424160" cy="786384"/>
          </a:xfrm>
          <a:prstGeom prst="roundRect">
            <a:avLst/>
          </a:prstGeom>
          <a:solidFill>
            <a:srgbClr val="FFFFFF"/>
          </a:solidFill>
          <a:ln w="25400">
            <a:solidFill>
              <a:srgbClr val="E819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47981" y="3253740"/>
            <a:ext cx="2926080" cy="400110"/>
          </a:xfrm>
          <a:prstGeom prst="rect">
            <a:avLst/>
          </a:prstGeom>
          <a:noFill/>
        </p:spPr>
        <p:txBody>
          <a:bodyPr wrap="square" lIns="45720" rIns="45720" anchor="t">
            <a:spAutoFit/>
          </a:bodyPr>
          <a:lstStyle/>
          <a:p>
            <a:pPr algn="l"/>
            <a:r>
              <a:rPr sz="2000" b="1" dirty="0">
                <a:solidFill>
                  <a:srgbClr val="E8191D"/>
                </a:solidFill>
                <a:latin typeface="Aptos"/>
              </a:rPr>
              <a:t>APPLICATION / API</a:t>
            </a:r>
          </a:p>
        </p:txBody>
      </p:sp>
      <p:sp>
        <p:nvSpPr>
          <p:cNvPr id="16" name="TextBox 15"/>
          <p:cNvSpPr txBox="1"/>
          <p:nvPr/>
        </p:nvSpPr>
        <p:spPr>
          <a:xfrm>
            <a:off x="6845461" y="3253740"/>
            <a:ext cx="7132320" cy="369332"/>
          </a:xfrm>
          <a:prstGeom prst="rect">
            <a:avLst/>
          </a:prstGeom>
          <a:noFill/>
        </p:spPr>
        <p:txBody>
          <a:bodyPr wrap="square" lIns="45720" rIns="45720" anchor="t">
            <a:spAutoFit/>
          </a:bodyPr>
          <a:lstStyle/>
          <a:p>
            <a:pPr algn="ctr"/>
            <a:r>
              <a:rPr b="0" dirty="0">
                <a:solidFill>
                  <a:srgbClr val="1F2937"/>
                </a:solidFill>
                <a:latin typeface="Aptos"/>
              </a:rPr>
              <a:t>Node.js  •  Express.js  •  REST endpoints</a:t>
            </a:r>
          </a:p>
        </p:txBody>
      </p:sp>
      <p:sp>
        <p:nvSpPr>
          <p:cNvPr id="17" name="Down Arrow 16"/>
          <p:cNvSpPr/>
          <p:nvPr/>
        </p:nvSpPr>
        <p:spPr>
          <a:xfrm>
            <a:off x="8442960" y="4118378"/>
            <a:ext cx="502920" cy="413656"/>
          </a:xfrm>
          <a:prstGeom prst="downArrow">
            <a:avLst/>
          </a:prstGeom>
          <a:solidFill>
            <a:srgbClr val="A0A5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931920" y="4702061"/>
            <a:ext cx="10424160" cy="786384"/>
          </a:xfrm>
          <a:prstGeom prst="roundRect">
            <a:avLst/>
          </a:prstGeom>
          <a:solidFill>
            <a:srgbClr val="FFFFFF"/>
          </a:solidFill>
          <a:ln w="25400">
            <a:solidFill>
              <a:srgbClr val="12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0" y="4793501"/>
            <a:ext cx="2926080" cy="400110"/>
          </a:xfrm>
          <a:prstGeom prst="rect">
            <a:avLst/>
          </a:prstGeom>
          <a:noFill/>
        </p:spPr>
        <p:txBody>
          <a:bodyPr wrap="square" lIns="45720" rIns="45720" anchor="t">
            <a:spAutoFit/>
          </a:bodyPr>
          <a:lstStyle/>
          <a:p>
            <a:pPr algn="l"/>
            <a:r>
              <a:rPr sz="2000" b="1" dirty="0">
                <a:solidFill>
                  <a:srgbClr val="12875C"/>
                </a:solidFill>
                <a:latin typeface="Aptos"/>
              </a:rPr>
              <a:t>DATA / SECURITY</a:t>
            </a:r>
          </a:p>
        </p:txBody>
      </p:sp>
      <p:sp>
        <p:nvSpPr>
          <p:cNvPr id="20" name="TextBox 19"/>
          <p:cNvSpPr txBox="1"/>
          <p:nvPr/>
        </p:nvSpPr>
        <p:spPr>
          <a:xfrm>
            <a:off x="6858000" y="4793501"/>
            <a:ext cx="7132320" cy="369332"/>
          </a:xfrm>
          <a:prstGeom prst="rect">
            <a:avLst/>
          </a:prstGeom>
          <a:noFill/>
        </p:spPr>
        <p:txBody>
          <a:bodyPr wrap="square" lIns="45720" rIns="45720" anchor="t">
            <a:spAutoFit/>
          </a:bodyPr>
          <a:lstStyle/>
          <a:p>
            <a:pPr algn="ctr"/>
            <a:r>
              <a:rPr b="0" dirty="0">
                <a:solidFill>
                  <a:srgbClr val="1F2937"/>
                </a:solidFill>
                <a:latin typeface="Aptos"/>
              </a:rPr>
              <a:t>MySQL  •  JWT  •  </a:t>
            </a:r>
            <a:r>
              <a:rPr b="0" dirty="0" err="1">
                <a:solidFill>
                  <a:srgbClr val="1F2937"/>
                </a:solidFill>
                <a:latin typeface="Aptos"/>
              </a:rPr>
              <a:t>bcryptjs</a:t>
            </a:r>
            <a:endParaRPr b="0" dirty="0">
              <a:solidFill>
                <a:srgbClr val="1F2937"/>
              </a:solidFill>
              <a:latin typeface="Aptos"/>
            </a:endParaRPr>
          </a:p>
        </p:txBody>
      </p:sp>
      <p:sp>
        <p:nvSpPr>
          <p:cNvPr id="21" name="Down Arrow 20"/>
          <p:cNvSpPr/>
          <p:nvPr/>
        </p:nvSpPr>
        <p:spPr>
          <a:xfrm>
            <a:off x="8442960" y="5639593"/>
            <a:ext cx="502920" cy="422971"/>
          </a:xfrm>
          <a:prstGeom prst="downArrow">
            <a:avLst/>
          </a:prstGeom>
          <a:solidFill>
            <a:srgbClr val="A0A5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931920" y="6229507"/>
            <a:ext cx="10424160" cy="786384"/>
          </a:xfrm>
          <a:prstGeom prst="roundRect">
            <a:avLst/>
          </a:prstGeom>
          <a:solidFill>
            <a:srgbClr val="FFFFFF"/>
          </a:solidFill>
          <a:ln w="25400">
            <a:solidFill>
              <a:srgbClr val="22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60520" y="6320947"/>
            <a:ext cx="2926080" cy="400110"/>
          </a:xfrm>
          <a:prstGeom prst="rect">
            <a:avLst/>
          </a:prstGeom>
          <a:noFill/>
        </p:spPr>
        <p:txBody>
          <a:bodyPr wrap="square" lIns="45720" rIns="45720" anchor="t">
            <a:spAutoFit/>
          </a:bodyPr>
          <a:lstStyle/>
          <a:p>
            <a:pPr algn="l"/>
            <a:r>
              <a:rPr sz="2000" b="1" dirty="0">
                <a:solidFill>
                  <a:srgbClr val="22AAC8"/>
                </a:solidFill>
                <a:latin typeface="Aptos"/>
              </a:rPr>
              <a:t>REAL-TIME / FILES</a:t>
            </a:r>
          </a:p>
        </p:txBody>
      </p:sp>
      <p:sp>
        <p:nvSpPr>
          <p:cNvPr id="24" name="TextBox 23"/>
          <p:cNvSpPr txBox="1"/>
          <p:nvPr/>
        </p:nvSpPr>
        <p:spPr>
          <a:xfrm>
            <a:off x="6858000" y="6320947"/>
            <a:ext cx="7132320" cy="369332"/>
          </a:xfrm>
          <a:prstGeom prst="rect">
            <a:avLst/>
          </a:prstGeom>
          <a:noFill/>
        </p:spPr>
        <p:txBody>
          <a:bodyPr wrap="square" lIns="45720" rIns="45720" anchor="t">
            <a:spAutoFit/>
          </a:bodyPr>
          <a:lstStyle/>
          <a:p>
            <a:pPr algn="ctr"/>
            <a:r>
              <a:rPr b="0" dirty="0">
                <a:solidFill>
                  <a:srgbClr val="1F2937"/>
                </a:solidFill>
                <a:latin typeface="Aptos"/>
              </a:rPr>
              <a:t>Socket.IO  •  PDF uploads  •  protected downloads</a:t>
            </a:r>
          </a:p>
        </p:txBody>
      </p:sp>
      <p:sp>
        <p:nvSpPr>
          <p:cNvPr id="25" name="TextBox 24"/>
          <p:cNvSpPr txBox="1"/>
          <p:nvPr/>
        </p:nvSpPr>
        <p:spPr>
          <a:xfrm>
            <a:off x="2834640" y="8065529"/>
            <a:ext cx="12618720" cy="461665"/>
          </a:xfrm>
          <a:prstGeom prst="rect">
            <a:avLst/>
          </a:prstGeom>
          <a:noFill/>
        </p:spPr>
        <p:txBody>
          <a:bodyPr wrap="square" lIns="45720" rIns="45720" anchor="t">
            <a:spAutoFit/>
          </a:bodyPr>
          <a:lstStyle/>
          <a:p>
            <a:pPr algn="ctr"/>
            <a:r>
              <a:rPr sz="2400" b="1" dirty="0">
                <a:solidFill>
                  <a:srgbClr val="0B2B66"/>
                </a:solidFill>
                <a:latin typeface="Aptos"/>
              </a:rPr>
              <a:t>Role-based access: Student  |  Recruiter  |  Placement Officer / Admin</a:t>
            </a:r>
          </a:p>
        </p:txBody>
      </p:sp>
    </p:spTree>
    <p:extLst>
      <p:ext uri="{BB962C8B-B14F-4D97-AF65-F5344CB8AC3E}">
        <p14:creationId xmlns:p14="http://schemas.microsoft.com/office/powerpoint/2010/main" val="241764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D0BB295-6073-A88E-C8D4-EF7EF27DD84D}"/>
              </a:ext>
            </a:extLst>
          </p:cNvPr>
          <p:cNvPicPr>
            <a:picLocks noChangeAspect="1"/>
          </p:cNvPicPr>
          <p:nvPr/>
        </p:nvPicPr>
        <p:blipFill>
          <a:blip r:embed="rId2"/>
          <a:stretch>
            <a:fillRect/>
          </a:stretch>
        </p:blipFill>
        <p:spPr>
          <a:xfrm>
            <a:off x="9906000" y="1605364"/>
            <a:ext cx="6590347" cy="1420491"/>
          </a:xfrm>
          <a:prstGeom prst="rect">
            <a:avLst/>
          </a:prstGeom>
        </p:spPr>
      </p:pic>
      <p:pic>
        <p:nvPicPr>
          <p:cNvPr id="15" name="Picture 14">
            <a:extLst>
              <a:ext uri="{FF2B5EF4-FFF2-40B4-BE49-F238E27FC236}">
                <a16:creationId xmlns:a16="http://schemas.microsoft.com/office/drawing/2014/main" id="{1D4028E9-C32F-DFB0-EA6D-B8EC1269305A}"/>
              </a:ext>
            </a:extLst>
          </p:cNvPr>
          <p:cNvPicPr>
            <a:picLocks noChangeAspect="1"/>
          </p:cNvPicPr>
          <p:nvPr/>
        </p:nvPicPr>
        <p:blipFill>
          <a:blip r:embed="rId2"/>
          <a:stretch>
            <a:fillRect/>
          </a:stretch>
        </p:blipFill>
        <p:spPr>
          <a:xfrm>
            <a:off x="9918526" y="3121885"/>
            <a:ext cx="6590347" cy="1420491"/>
          </a:xfrm>
          <a:prstGeom prst="rect">
            <a:avLst/>
          </a:prstGeom>
        </p:spPr>
      </p:pic>
      <p:pic>
        <p:nvPicPr>
          <p:cNvPr id="14" name="Picture 13">
            <a:extLst>
              <a:ext uri="{FF2B5EF4-FFF2-40B4-BE49-F238E27FC236}">
                <a16:creationId xmlns:a16="http://schemas.microsoft.com/office/drawing/2014/main" id="{FB69A851-2E92-7271-461E-598D4BAD81D1}"/>
              </a:ext>
            </a:extLst>
          </p:cNvPr>
          <p:cNvPicPr>
            <a:picLocks noChangeAspect="1"/>
          </p:cNvPicPr>
          <p:nvPr/>
        </p:nvPicPr>
        <p:blipFill>
          <a:blip r:embed="rId2"/>
          <a:stretch>
            <a:fillRect/>
          </a:stretch>
        </p:blipFill>
        <p:spPr>
          <a:xfrm>
            <a:off x="9918526" y="4638406"/>
            <a:ext cx="6590347" cy="1420491"/>
          </a:xfrm>
          <a:prstGeom prst="rect">
            <a:avLst/>
          </a:prstGeom>
        </p:spPr>
      </p:pic>
      <p:pic>
        <p:nvPicPr>
          <p:cNvPr id="13" name="Picture 12">
            <a:extLst>
              <a:ext uri="{FF2B5EF4-FFF2-40B4-BE49-F238E27FC236}">
                <a16:creationId xmlns:a16="http://schemas.microsoft.com/office/drawing/2014/main" id="{AED02ADD-4F7A-2B75-651A-58A12F8A06ED}"/>
              </a:ext>
            </a:extLst>
          </p:cNvPr>
          <p:cNvPicPr>
            <a:picLocks noChangeAspect="1"/>
          </p:cNvPicPr>
          <p:nvPr/>
        </p:nvPicPr>
        <p:blipFill>
          <a:blip r:embed="rId2"/>
          <a:stretch>
            <a:fillRect/>
          </a:stretch>
        </p:blipFill>
        <p:spPr>
          <a:xfrm>
            <a:off x="9918527" y="6085209"/>
            <a:ext cx="6590347" cy="1420491"/>
          </a:xfrm>
          <a:prstGeom prst="rect">
            <a:avLst/>
          </a:prstGeom>
        </p:spPr>
      </p:pic>
      <p:pic>
        <p:nvPicPr>
          <p:cNvPr id="12" name="Picture 11">
            <a:extLst>
              <a:ext uri="{FF2B5EF4-FFF2-40B4-BE49-F238E27FC236}">
                <a16:creationId xmlns:a16="http://schemas.microsoft.com/office/drawing/2014/main" id="{D867907D-507F-672D-F16A-667E89437D15}"/>
              </a:ext>
            </a:extLst>
          </p:cNvPr>
          <p:cNvPicPr>
            <a:picLocks noChangeAspect="1"/>
          </p:cNvPicPr>
          <p:nvPr/>
        </p:nvPicPr>
        <p:blipFill>
          <a:blip r:embed="rId2"/>
          <a:stretch>
            <a:fillRect/>
          </a:stretch>
        </p:blipFill>
        <p:spPr>
          <a:xfrm>
            <a:off x="1203959" y="1580234"/>
            <a:ext cx="6590347" cy="1420491"/>
          </a:xfrm>
          <a:prstGeom prst="rect">
            <a:avLst/>
          </a:prstGeom>
        </p:spPr>
      </p:pic>
      <p:pic>
        <p:nvPicPr>
          <p:cNvPr id="11" name="Picture 10">
            <a:extLst>
              <a:ext uri="{FF2B5EF4-FFF2-40B4-BE49-F238E27FC236}">
                <a16:creationId xmlns:a16="http://schemas.microsoft.com/office/drawing/2014/main" id="{F69071CB-6695-CACE-84DA-016C3B059C31}"/>
              </a:ext>
            </a:extLst>
          </p:cNvPr>
          <p:cNvPicPr>
            <a:picLocks noChangeAspect="1"/>
          </p:cNvPicPr>
          <p:nvPr/>
        </p:nvPicPr>
        <p:blipFill>
          <a:blip r:embed="rId2"/>
          <a:stretch>
            <a:fillRect/>
          </a:stretch>
        </p:blipFill>
        <p:spPr>
          <a:xfrm>
            <a:off x="1203960" y="3098847"/>
            <a:ext cx="6590347" cy="1420491"/>
          </a:xfrm>
          <a:prstGeom prst="rect">
            <a:avLst/>
          </a:prstGeom>
        </p:spPr>
      </p:pic>
      <p:pic>
        <p:nvPicPr>
          <p:cNvPr id="2" name="Picture 1">
            <a:extLst>
              <a:ext uri="{FF2B5EF4-FFF2-40B4-BE49-F238E27FC236}">
                <a16:creationId xmlns:a16="http://schemas.microsoft.com/office/drawing/2014/main" id="{B46ECED6-A6DA-9A45-0762-FFDAC8DE3014}"/>
              </a:ext>
            </a:extLst>
          </p:cNvPr>
          <p:cNvPicPr>
            <a:picLocks noChangeAspect="1"/>
          </p:cNvPicPr>
          <p:nvPr/>
        </p:nvPicPr>
        <p:blipFill>
          <a:blip r:embed="rId2"/>
          <a:stretch>
            <a:fillRect/>
          </a:stretch>
        </p:blipFill>
        <p:spPr>
          <a:xfrm>
            <a:off x="1258253" y="4610100"/>
            <a:ext cx="6590347" cy="1420491"/>
          </a:xfrm>
          <a:prstGeom prst="rect">
            <a:avLst/>
          </a:prstGeom>
        </p:spPr>
      </p:pic>
      <p:grpSp>
        <p:nvGrpSpPr>
          <p:cNvPr id="3" name="Group 3"/>
          <p:cNvGrpSpPr>
            <a:grpSpLocks noChangeAspect="1"/>
          </p:cNvGrpSpPr>
          <p:nvPr/>
        </p:nvGrpSpPr>
        <p:grpSpPr>
          <a:xfrm>
            <a:off x="1219200" y="9255919"/>
            <a:ext cx="15849600" cy="4762"/>
            <a:chOff x="0" y="0"/>
            <a:chExt cx="15849600" cy="4762"/>
          </a:xfrm>
        </p:grpSpPr>
        <p:sp>
          <p:nvSpPr>
            <p:cNvPr id="4" name="Freeform 4"/>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5" name="Freeform 5"/>
          <p:cNvSpPr/>
          <p:nvPr/>
        </p:nvSpPr>
        <p:spPr>
          <a:xfrm>
            <a:off x="937663" y="1272904"/>
            <a:ext cx="16050797" cy="50292"/>
          </a:xfrm>
          <a:custGeom>
            <a:avLst/>
            <a:gdLst/>
            <a:ahLst/>
            <a:cxnLst/>
            <a:rect l="l" t="t" r="r" b="b"/>
            <a:pathLst>
              <a:path w="16050797" h="305591">
                <a:moveTo>
                  <a:pt x="0" y="0"/>
                </a:moveTo>
                <a:lnTo>
                  <a:pt x="16050796" y="0"/>
                </a:lnTo>
                <a:lnTo>
                  <a:pt x="16050796" y="305590"/>
                </a:lnTo>
                <a:lnTo>
                  <a:pt x="0" y="30559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a:p>
        </p:txBody>
      </p:sp>
      <p:sp>
        <p:nvSpPr>
          <p:cNvPr id="6" name="TextBox 6"/>
          <p:cNvSpPr txBox="1"/>
          <p:nvPr/>
        </p:nvSpPr>
        <p:spPr>
          <a:xfrm>
            <a:off x="3988365" y="514552"/>
            <a:ext cx="9372600" cy="475488"/>
          </a:xfrm>
          <a:prstGeom prst="rect">
            <a:avLst/>
          </a:prstGeom>
        </p:spPr>
        <p:txBody>
          <a:bodyPr wrap="square" lIns="0" tIns="0" rIns="0" bIns="0" rtlCol="0" anchor="ctr">
            <a:spAutoFit/>
          </a:bodyPr>
          <a:lstStyle/>
          <a:p>
            <a:pPr algn="ctr">
              <a:lnSpc>
                <a:spcPts val="8942"/>
              </a:lnSpc>
              <a:spcAft>
                <a:spcPts val="0"/>
              </a:spcAft>
            </a:pPr>
            <a:r>
              <a:rPr sz="2200" b="1" dirty="0">
                <a:solidFill>
                  <a:srgbClr val="0B2B66"/>
                </a:solidFill>
                <a:latin typeface="Aptos"/>
              </a:rPr>
              <a:t>TECHNOLOGIES USED</a:t>
            </a:r>
          </a:p>
        </p:txBody>
      </p:sp>
      <p:sp>
        <p:nvSpPr>
          <p:cNvPr id="7" name="TextBox 7"/>
          <p:cNvSpPr txBox="1"/>
          <p:nvPr/>
        </p:nvSpPr>
        <p:spPr>
          <a:xfrm>
            <a:off x="1310640" y="9215885"/>
            <a:ext cx="1425559" cy="475221"/>
          </a:xfrm>
          <a:prstGeom prst="rect">
            <a:avLst/>
          </a:prstGeom>
        </p:spPr>
        <p:txBody>
          <a:bodyPr wrap="square" lIns="0" tIns="0" rIns="0" bIns="0" rtlCol="0" anchor="ctr">
            <a:spAutoFit/>
          </a:bodyPr>
          <a:lstStyle/>
          <a:p>
            <a:pPr algn="l">
              <a:lnSpc>
                <a:spcPts val="4262"/>
              </a:lnSpc>
            </a:pPr>
            <a:r>
              <a:rPr sz="900" b="0">
                <a:solidFill>
                  <a:srgbClr val="E8191D"/>
                </a:solidFill>
                <a:latin typeface="Aptos"/>
              </a:rPr>
              <a:t>Project Review</a:t>
            </a:r>
          </a:p>
        </p:txBody>
      </p:sp>
      <p:sp>
        <p:nvSpPr>
          <p:cNvPr id="8" name="TextBox 8"/>
          <p:cNvSpPr txBox="1"/>
          <p:nvPr/>
        </p:nvSpPr>
        <p:spPr>
          <a:xfrm>
            <a:off x="8345005" y="9215885"/>
            <a:ext cx="81972" cy="475221"/>
          </a:xfrm>
          <a:prstGeom prst="rect">
            <a:avLst/>
          </a:prstGeom>
        </p:spPr>
        <p:txBody>
          <a:bodyPr lIns="0" tIns="0" rIns="0" bIns="0" rtlCol="0" anchor="t">
            <a:spAutoFit/>
          </a:bodyPr>
          <a:lstStyle/>
          <a:p>
            <a:pPr algn="l">
              <a:lnSpc>
                <a:spcPts val="4262"/>
              </a:lnSpc>
            </a:pPr>
            <a:r>
              <a:rPr lang="en-US" sz="1800" spc="-19">
                <a:solidFill>
                  <a:srgbClr val="000000"/>
                </a:solidFill>
                <a:latin typeface="Montserrat"/>
                <a:ea typeface="Montserrat"/>
                <a:cs typeface="Montserrat"/>
                <a:sym typeface="Montserrat"/>
              </a:rPr>
              <a:t> </a:t>
            </a:r>
          </a:p>
        </p:txBody>
      </p:sp>
      <p:sp>
        <p:nvSpPr>
          <p:cNvPr id="9" name="TextBox 9"/>
          <p:cNvSpPr txBox="1"/>
          <p:nvPr/>
        </p:nvSpPr>
        <p:spPr>
          <a:xfrm>
            <a:off x="16831922" y="9215885"/>
            <a:ext cx="313077" cy="470642"/>
          </a:xfrm>
          <a:prstGeom prst="rect">
            <a:avLst/>
          </a:prstGeom>
        </p:spPr>
        <p:txBody>
          <a:bodyPr wrap="square" lIns="0" tIns="0" rIns="0" bIns="0" rtlCol="0" anchor="ctr">
            <a:spAutoFit/>
          </a:bodyPr>
          <a:lstStyle/>
          <a:p>
            <a:pPr algn="ctr">
              <a:lnSpc>
                <a:spcPts val="4262"/>
              </a:lnSpc>
            </a:pPr>
            <a:r>
              <a:rPr sz="900" b="0">
                <a:solidFill>
                  <a:srgbClr val="525C6E"/>
                </a:solidFill>
                <a:latin typeface="Aptos"/>
              </a:rPr>
              <a:t>10</a:t>
            </a:r>
            <a:endParaRPr lang="en-US" sz="1800" spc="-19" dirty="0">
              <a:solidFill>
                <a:srgbClr val="000000"/>
              </a:solidFill>
              <a:latin typeface="Montserrat"/>
              <a:ea typeface="Montserrat"/>
              <a:cs typeface="Montserrat"/>
              <a:sym typeface="Montserrat"/>
            </a:endParaRPr>
          </a:p>
        </p:txBody>
      </p:sp>
      <p:sp>
        <p:nvSpPr>
          <p:cNvPr id="10" name="TextBox 10"/>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a:solidFill>
                  <a:srgbClr val="000000"/>
                </a:solidFill>
                <a:latin typeface="Montserrat"/>
                <a:ea typeface="Montserrat"/>
                <a:cs typeface="Montserrat"/>
                <a:sym typeface="Montserrat"/>
              </a:rPr>
              <a:t>Department of Computer Science and Engineering</a:t>
            </a:r>
          </a:p>
        </p:txBody>
      </p:sp>
      <p:sp>
        <p:nvSpPr>
          <p:cNvPr id="21" name="TextBox 20"/>
          <p:cNvSpPr txBox="1"/>
          <p:nvPr/>
        </p:nvSpPr>
        <p:spPr>
          <a:xfrm>
            <a:off x="1386840" y="1714500"/>
            <a:ext cx="2057400" cy="400110"/>
          </a:xfrm>
          <a:prstGeom prst="rect">
            <a:avLst/>
          </a:prstGeom>
          <a:noFill/>
        </p:spPr>
        <p:txBody>
          <a:bodyPr wrap="square" lIns="45720" rIns="45720" anchor="t">
            <a:spAutoFit/>
          </a:bodyPr>
          <a:lstStyle/>
          <a:p>
            <a:pPr algn="l"/>
            <a:r>
              <a:rPr sz="2000" b="1" dirty="0">
                <a:solidFill>
                  <a:srgbClr val="0B2B66"/>
                </a:solidFill>
                <a:latin typeface="Aptos"/>
              </a:rPr>
              <a:t>HTML5</a:t>
            </a:r>
          </a:p>
        </p:txBody>
      </p:sp>
      <p:sp>
        <p:nvSpPr>
          <p:cNvPr id="22" name="TextBox 21"/>
          <p:cNvSpPr txBox="1"/>
          <p:nvPr/>
        </p:nvSpPr>
        <p:spPr>
          <a:xfrm>
            <a:off x="3810000" y="1690672"/>
            <a:ext cx="3886200" cy="369332"/>
          </a:xfrm>
          <a:prstGeom prst="rect">
            <a:avLst/>
          </a:prstGeom>
          <a:noFill/>
        </p:spPr>
        <p:txBody>
          <a:bodyPr wrap="square" lIns="45720" rIns="45720" anchor="t">
            <a:spAutoFit/>
          </a:bodyPr>
          <a:lstStyle/>
          <a:p>
            <a:pPr algn="l"/>
            <a:r>
              <a:rPr b="0" dirty="0">
                <a:solidFill>
                  <a:srgbClr val="1F2937"/>
                </a:solidFill>
                <a:latin typeface="Aptos"/>
              </a:rPr>
              <a:t>Page structure &amp; forms</a:t>
            </a:r>
          </a:p>
        </p:txBody>
      </p:sp>
      <p:sp>
        <p:nvSpPr>
          <p:cNvPr id="24" name="TextBox 23"/>
          <p:cNvSpPr txBox="1"/>
          <p:nvPr/>
        </p:nvSpPr>
        <p:spPr>
          <a:xfrm>
            <a:off x="1386840" y="3256788"/>
            <a:ext cx="2057400" cy="400110"/>
          </a:xfrm>
          <a:prstGeom prst="rect">
            <a:avLst/>
          </a:prstGeom>
          <a:noFill/>
        </p:spPr>
        <p:txBody>
          <a:bodyPr wrap="square" lIns="45720" rIns="45720" anchor="t">
            <a:spAutoFit/>
          </a:bodyPr>
          <a:lstStyle/>
          <a:p>
            <a:pPr algn="l"/>
            <a:r>
              <a:rPr sz="2000" b="1" dirty="0">
                <a:solidFill>
                  <a:srgbClr val="0B2B66"/>
                </a:solidFill>
                <a:latin typeface="Aptos"/>
              </a:rPr>
              <a:t>CSS3</a:t>
            </a:r>
          </a:p>
        </p:txBody>
      </p:sp>
      <p:sp>
        <p:nvSpPr>
          <p:cNvPr id="25" name="TextBox 24"/>
          <p:cNvSpPr txBox="1"/>
          <p:nvPr/>
        </p:nvSpPr>
        <p:spPr>
          <a:xfrm>
            <a:off x="3810000" y="3232444"/>
            <a:ext cx="3886200" cy="369332"/>
          </a:xfrm>
          <a:prstGeom prst="rect">
            <a:avLst/>
          </a:prstGeom>
          <a:noFill/>
        </p:spPr>
        <p:txBody>
          <a:bodyPr wrap="square" lIns="45720" rIns="45720" anchor="t">
            <a:spAutoFit/>
          </a:bodyPr>
          <a:lstStyle/>
          <a:p>
            <a:pPr algn="l"/>
            <a:r>
              <a:rPr b="0" dirty="0">
                <a:solidFill>
                  <a:srgbClr val="1F2937"/>
                </a:solidFill>
                <a:latin typeface="Aptos"/>
              </a:rPr>
              <a:t>Responsive UI &amp; visual design</a:t>
            </a:r>
          </a:p>
        </p:txBody>
      </p:sp>
      <p:sp>
        <p:nvSpPr>
          <p:cNvPr id="27" name="TextBox 26"/>
          <p:cNvSpPr txBox="1"/>
          <p:nvPr/>
        </p:nvSpPr>
        <p:spPr>
          <a:xfrm>
            <a:off x="1441133" y="4683533"/>
            <a:ext cx="2057400" cy="400110"/>
          </a:xfrm>
          <a:prstGeom prst="rect">
            <a:avLst/>
          </a:prstGeom>
          <a:noFill/>
        </p:spPr>
        <p:txBody>
          <a:bodyPr wrap="square" lIns="45720" rIns="45720" anchor="t">
            <a:spAutoFit/>
          </a:bodyPr>
          <a:lstStyle/>
          <a:p>
            <a:pPr algn="l"/>
            <a:r>
              <a:rPr sz="2000" b="1" dirty="0">
                <a:solidFill>
                  <a:srgbClr val="0B2B66"/>
                </a:solidFill>
                <a:latin typeface="Aptos"/>
              </a:rPr>
              <a:t>JavaScript</a:t>
            </a:r>
          </a:p>
        </p:txBody>
      </p:sp>
      <p:sp>
        <p:nvSpPr>
          <p:cNvPr id="28" name="TextBox 27"/>
          <p:cNvSpPr txBox="1"/>
          <p:nvPr/>
        </p:nvSpPr>
        <p:spPr>
          <a:xfrm>
            <a:off x="3810000" y="4683533"/>
            <a:ext cx="3886200" cy="369332"/>
          </a:xfrm>
          <a:prstGeom prst="rect">
            <a:avLst/>
          </a:prstGeom>
          <a:noFill/>
        </p:spPr>
        <p:txBody>
          <a:bodyPr wrap="square" lIns="45720" rIns="45720" anchor="t">
            <a:spAutoFit/>
          </a:bodyPr>
          <a:lstStyle/>
          <a:p>
            <a:pPr algn="l"/>
            <a:r>
              <a:rPr b="0" dirty="0">
                <a:solidFill>
                  <a:srgbClr val="1F2937"/>
                </a:solidFill>
                <a:latin typeface="Aptos"/>
              </a:rPr>
              <a:t>DOM, events, validation &amp; API calls</a:t>
            </a:r>
          </a:p>
        </p:txBody>
      </p:sp>
      <p:sp>
        <p:nvSpPr>
          <p:cNvPr id="29" name="Rounded Rectangle 28"/>
          <p:cNvSpPr/>
          <p:nvPr/>
        </p:nvSpPr>
        <p:spPr>
          <a:xfrm>
            <a:off x="1280160" y="6111016"/>
            <a:ext cx="6492240" cy="1318484"/>
          </a:xfrm>
          <a:prstGeom prst="roundRect">
            <a:avLst/>
          </a:prstGeom>
          <a:solidFill>
            <a:srgbClr val="FFFFFF"/>
          </a:solidFill>
          <a:ln>
            <a:solidFill>
              <a:srgbClr val="E1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463040" y="6207197"/>
            <a:ext cx="2575560" cy="400110"/>
          </a:xfrm>
          <a:prstGeom prst="rect">
            <a:avLst/>
          </a:prstGeom>
          <a:noFill/>
        </p:spPr>
        <p:txBody>
          <a:bodyPr wrap="square" lIns="45720" rIns="45720" anchor="t">
            <a:spAutoFit/>
          </a:bodyPr>
          <a:lstStyle/>
          <a:p>
            <a:pPr algn="l"/>
            <a:r>
              <a:rPr sz="2000" b="1" dirty="0">
                <a:solidFill>
                  <a:srgbClr val="0B2B66"/>
                </a:solidFill>
                <a:latin typeface="Aptos"/>
              </a:rPr>
              <a:t>Node.js + Express</a:t>
            </a:r>
          </a:p>
        </p:txBody>
      </p:sp>
      <p:sp>
        <p:nvSpPr>
          <p:cNvPr id="31" name="TextBox 30"/>
          <p:cNvSpPr txBox="1"/>
          <p:nvPr/>
        </p:nvSpPr>
        <p:spPr>
          <a:xfrm>
            <a:off x="3810000" y="6222586"/>
            <a:ext cx="3886200" cy="369332"/>
          </a:xfrm>
          <a:prstGeom prst="rect">
            <a:avLst/>
          </a:prstGeom>
          <a:noFill/>
        </p:spPr>
        <p:txBody>
          <a:bodyPr wrap="square" lIns="45720" rIns="45720" anchor="t">
            <a:spAutoFit/>
          </a:bodyPr>
          <a:lstStyle/>
          <a:p>
            <a:pPr algn="l"/>
            <a:r>
              <a:rPr b="0" dirty="0">
                <a:solidFill>
                  <a:srgbClr val="1F2937"/>
                </a:solidFill>
                <a:latin typeface="Aptos"/>
              </a:rPr>
              <a:t>Server &amp; REST API</a:t>
            </a:r>
          </a:p>
        </p:txBody>
      </p:sp>
      <p:sp>
        <p:nvSpPr>
          <p:cNvPr id="33" name="TextBox 32"/>
          <p:cNvSpPr txBox="1"/>
          <p:nvPr/>
        </p:nvSpPr>
        <p:spPr>
          <a:xfrm>
            <a:off x="10230842" y="1700840"/>
            <a:ext cx="2057400" cy="400110"/>
          </a:xfrm>
          <a:prstGeom prst="rect">
            <a:avLst/>
          </a:prstGeom>
          <a:noFill/>
        </p:spPr>
        <p:txBody>
          <a:bodyPr wrap="square" lIns="45720" rIns="45720" anchor="t">
            <a:spAutoFit/>
          </a:bodyPr>
          <a:lstStyle/>
          <a:p>
            <a:pPr algn="l"/>
            <a:r>
              <a:rPr sz="2000" b="1" dirty="0">
                <a:solidFill>
                  <a:srgbClr val="0B2B66"/>
                </a:solidFill>
                <a:latin typeface="Aptos"/>
              </a:rPr>
              <a:t>MySQL</a:t>
            </a:r>
          </a:p>
        </p:txBody>
      </p:sp>
      <p:sp>
        <p:nvSpPr>
          <p:cNvPr id="34" name="TextBox 33"/>
          <p:cNvSpPr txBox="1"/>
          <p:nvPr/>
        </p:nvSpPr>
        <p:spPr>
          <a:xfrm>
            <a:off x="13086123" y="1688690"/>
            <a:ext cx="3886200" cy="369332"/>
          </a:xfrm>
          <a:prstGeom prst="rect">
            <a:avLst/>
          </a:prstGeom>
          <a:noFill/>
        </p:spPr>
        <p:txBody>
          <a:bodyPr wrap="square" lIns="45720" rIns="45720" anchor="t">
            <a:spAutoFit/>
          </a:bodyPr>
          <a:lstStyle/>
          <a:p>
            <a:pPr algn="l"/>
            <a:r>
              <a:rPr b="0" dirty="0">
                <a:solidFill>
                  <a:srgbClr val="1F2937"/>
                </a:solidFill>
                <a:latin typeface="Aptos"/>
              </a:rPr>
              <a:t>Persistent data storage</a:t>
            </a:r>
          </a:p>
        </p:txBody>
      </p:sp>
      <p:sp>
        <p:nvSpPr>
          <p:cNvPr id="36" name="TextBox 35"/>
          <p:cNvSpPr txBox="1"/>
          <p:nvPr/>
        </p:nvSpPr>
        <p:spPr>
          <a:xfrm>
            <a:off x="10276563" y="3177617"/>
            <a:ext cx="2057400" cy="400110"/>
          </a:xfrm>
          <a:prstGeom prst="rect">
            <a:avLst/>
          </a:prstGeom>
          <a:noFill/>
        </p:spPr>
        <p:txBody>
          <a:bodyPr wrap="square" lIns="45720" rIns="45720" anchor="t">
            <a:spAutoFit/>
          </a:bodyPr>
          <a:lstStyle/>
          <a:p>
            <a:pPr algn="l"/>
            <a:r>
              <a:rPr sz="2000" b="1" dirty="0">
                <a:solidFill>
                  <a:srgbClr val="0B2B66"/>
                </a:solidFill>
                <a:latin typeface="Aptos"/>
              </a:rPr>
              <a:t>JWT + </a:t>
            </a:r>
            <a:r>
              <a:rPr sz="2000" b="1" dirty="0" err="1">
                <a:solidFill>
                  <a:srgbClr val="0B2B66"/>
                </a:solidFill>
                <a:latin typeface="Aptos"/>
              </a:rPr>
              <a:t>bcryptjs</a:t>
            </a:r>
            <a:endParaRPr sz="2000" b="1" dirty="0">
              <a:solidFill>
                <a:srgbClr val="0B2B66"/>
              </a:solidFill>
              <a:latin typeface="Aptos"/>
            </a:endParaRPr>
          </a:p>
        </p:txBody>
      </p:sp>
      <p:sp>
        <p:nvSpPr>
          <p:cNvPr id="37" name="TextBox 36"/>
          <p:cNvSpPr txBox="1"/>
          <p:nvPr/>
        </p:nvSpPr>
        <p:spPr>
          <a:xfrm>
            <a:off x="12785180" y="3200645"/>
            <a:ext cx="3886200" cy="369332"/>
          </a:xfrm>
          <a:prstGeom prst="rect">
            <a:avLst/>
          </a:prstGeom>
          <a:noFill/>
        </p:spPr>
        <p:txBody>
          <a:bodyPr wrap="square" lIns="45720" rIns="45720" anchor="t">
            <a:spAutoFit/>
          </a:bodyPr>
          <a:lstStyle/>
          <a:p>
            <a:pPr algn="l"/>
            <a:r>
              <a:rPr b="0" dirty="0">
                <a:solidFill>
                  <a:srgbClr val="1F2937"/>
                </a:solidFill>
                <a:latin typeface="Aptos"/>
              </a:rPr>
              <a:t>Authentication &amp; password security</a:t>
            </a:r>
          </a:p>
        </p:txBody>
      </p:sp>
      <p:sp>
        <p:nvSpPr>
          <p:cNvPr id="39" name="TextBox 38"/>
          <p:cNvSpPr txBox="1"/>
          <p:nvPr/>
        </p:nvSpPr>
        <p:spPr>
          <a:xfrm>
            <a:off x="10276563" y="4697541"/>
            <a:ext cx="2057400" cy="400110"/>
          </a:xfrm>
          <a:prstGeom prst="rect">
            <a:avLst/>
          </a:prstGeom>
          <a:noFill/>
        </p:spPr>
        <p:txBody>
          <a:bodyPr wrap="square" lIns="45720" rIns="45720" anchor="t">
            <a:spAutoFit/>
          </a:bodyPr>
          <a:lstStyle/>
          <a:p>
            <a:pPr algn="l"/>
            <a:r>
              <a:rPr sz="2000" b="1" dirty="0">
                <a:solidFill>
                  <a:srgbClr val="0B2B66"/>
                </a:solidFill>
                <a:latin typeface="Aptos"/>
              </a:rPr>
              <a:t>Socket.IO</a:t>
            </a:r>
          </a:p>
        </p:txBody>
      </p:sp>
      <p:sp>
        <p:nvSpPr>
          <p:cNvPr id="40" name="TextBox 39"/>
          <p:cNvSpPr txBox="1"/>
          <p:nvPr/>
        </p:nvSpPr>
        <p:spPr>
          <a:xfrm>
            <a:off x="13087820" y="4660577"/>
            <a:ext cx="3886200" cy="369332"/>
          </a:xfrm>
          <a:prstGeom prst="rect">
            <a:avLst/>
          </a:prstGeom>
          <a:noFill/>
        </p:spPr>
        <p:txBody>
          <a:bodyPr wrap="square" lIns="45720" rIns="45720" anchor="t">
            <a:spAutoFit/>
          </a:bodyPr>
          <a:lstStyle/>
          <a:p>
            <a:pPr algn="l"/>
            <a:r>
              <a:rPr b="0" dirty="0">
                <a:solidFill>
                  <a:srgbClr val="1F2937"/>
                </a:solidFill>
                <a:latin typeface="Aptos"/>
              </a:rPr>
              <a:t>Real-time chat &amp; updates</a:t>
            </a:r>
          </a:p>
        </p:txBody>
      </p:sp>
      <p:sp>
        <p:nvSpPr>
          <p:cNvPr id="42" name="TextBox 41"/>
          <p:cNvSpPr txBox="1"/>
          <p:nvPr/>
        </p:nvSpPr>
        <p:spPr>
          <a:xfrm>
            <a:off x="10227710" y="6203410"/>
            <a:ext cx="3032761" cy="400110"/>
          </a:xfrm>
          <a:prstGeom prst="rect">
            <a:avLst/>
          </a:prstGeom>
          <a:noFill/>
        </p:spPr>
        <p:txBody>
          <a:bodyPr wrap="square" lIns="45720" rIns="45720" anchor="t">
            <a:spAutoFit/>
          </a:bodyPr>
          <a:lstStyle/>
          <a:p>
            <a:pPr algn="l"/>
            <a:r>
              <a:rPr sz="2000" b="1" dirty="0">
                <a:solidFill>
                  <a:srgbClr val="0B2B66"/>
                </a:solidFill>
                <a:latin typeface="Aptos"/>
              </a:rPr>
              <a:t>GitHub + Ubuntu + PM2</a:t>
            </a:r>
          </a:p>
        </p:txBody>
      </p:sp>
      <p:sp>
        <p:nvSpPr>
          <p:cNvPr id="43" name="TextBox 42"/>
          <p:cNvSpPr txBox="1"/>
          <p:nvPr/>
        </p:nvSpPr>
        <p:spPr>
          <a:xfrm>
            <a:off x="13087820" y="6215936"/>
            <a:ext cx="3886200" cy="369332"/>
          </a:xfrm>
          <a:prstGeom prst="rect">
            <a:avLst/>
          </a:prstGeom>
          <a:noFill/>
        </p:spPr>
        <p:txBody>
          <a:bodyPr wrap="square" lIns="45720" rIns="45720" anchor="t">
            <a:spAutoFit/>
          </a:bodyPr>
          <a:lstStyle/>
          <a:p>
            <a:pPr algn="l"/>
            <a:r>
              <a:rPr b="0" dirty="0">
                <a:solidFill>
                  <a:srgbClr val="1F2937"/>
                </a:solidFill>
                <a:latin typeface="Aptos"/>
              </a:rPr>
              <a:t>Version control &amp; deployment</a:t>
            </a:r>
          </a:p>
        </p:txBody>
      </p:sp>
      <p:sp>
        <p:nvSpPr>
          <p:cNvPr id="44" name="TextBox 43"/>
          <p:cNvSpPr txBox="1"/>
          <p:nvPr/>
        </p:nvSpPr>
        <p:spPr>
          <a:xfrm>
            <a:off x="1943100" y="7879302"/>
            <a:ext cx="12801600" cy="400110"/>
          </a:xfrm>
          <a:prstGeom prst="rect">
            <a:avLst/>
          </a:prstGeom>
          <a:noFill/>
        </p:spPr>
        <p:txBody>
          <a:bodyPr wrap="square" lIns="45720" rIns="45720" anchor="t">
            <a:spAutoFit/>
          </a:bodyPr>
          <a:lstStyle/>
          <a:p>
            <a:pPr algn="ctr"/>
            <a:r>
              <a:rPr sz="2000" b="1" dirty="0">
                <a:solidFill>
                  <a:srgbClr val="E8191D"/>
                </a:solidFill>
                <a:latin typeface="Aptos"/>
              </a:rPr>
              <a:t>Live deployment: </a:t>
            </a:r>
            <a:r>
              <a:rPr sz="2000" b="1" dirty="0" err="1">
                <a:solidFill>
                  <a:srgbClr val="E8191D"/>
                </a:solidFill>
                <a:latin typeface="Aptos"/>
              </a:rPr>
              <a:t>CampusConnect</a:t>
            </a:r>
            <a:r>
              <a:rPr sz="2000" b="1" dirty="0">
                <a:solidFill>
                  <a:srgbClr val="E8191D"/>
                </a:solidFill>
                <a:latin typeface="Aptos"/>
              </a:rPr>
              <a:t> is running as a working web application on an Ubuntu server.</a:t>
            </a:r>
          </a:p>
        </p:txBody>
      </p:sp>
      <p:sp>
        <p:nvSpPr>
          <p:cNvPr id="45" name="TextBox 44"/>
          <p:cNvSpPr txBox="1"/>
          <p:nvPr/>
        </p:nvSpPr>
        <p:spPr>
          <a:xfrm>
            <a:off x="4102665" y="8280365"/>
            <a:ext cx="9144000" cy="400110"/>
          </a:xfrm>
          <a:prstGeom prst="rect">
            <a:avLst/>
          </a:prstGeom>
          <a:noFill/>
        </p:spPr>
        <p:txBody>
          <a:bodyPr wrap="square" lIns="45720" rIns="45720" anchor="t">
            <a:spAutoFit/>
          </a:bodyPr>
          <a:lstStyle/>
          <a:p>
            <a:pPr algn="ctr"/>
            <a:r>
              <a:rPr sz="2000" b="0" dirty="0">
                <a:solidFill>
                  <a:srgbClr val="525C6E"/>
                </a:solidFill>
                <a:latin typeface="Aptos"/>
              </a:rPr>
              <a:t>http://76.13.243.90:3103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67DAFBB0-3672-3BD8-9DAB-D4CD48145996}"/>
              </a:ext>
            </a:extLst>
          </p:cNvPr>
          <p:cNvGrpSpPr>
            <a:grpSpLocks noChangeAspect="1"/>
          </p:cNvGrpSpPr>
          <p:nvPr/>
        </p:nvGrpSpPr>
        <p:grpSpPr>
          <a:xfrm>
            <a:off x="1219200" y="9255919"/>
            <a:ext cx="15849600" cy="4762"/>
            <a:chOff x="0" y="0"/>
            <a:chExt cx="15849600" cy="4762"/>
          </a:xfrm>
        </p:grpSpPr>
        <p:sp>
          <p:nvSpPr>
            <p:cNvPr id="3" name="Freeform 4">
              <a:extLst>
                <a:ext uri="{FF2B5EF4-FFF2-40B4-BE49-F238E27FC236}">
                  <a16:creationId xmlns:a16="http://schemas.microsoft.com/office/drawing/2014/main" id="{17DF178C-8AE3-2500-510E-4DE1CC6D73D2}"/>
                </a:ext>
              </a:extLst>
            </p:cNvPr>
            <p:cNvSpPr/>
            <p:nvPr/>
          </p:nvSpPr>
          <p:spPr>
            <a:xfrm>
              <a:off x="0" y="0"/>
              <a:ext cx="15849600" cy="4826"/>
            </a:xfrm>
            <a:custGeom>
              <a:avLst/>
              <a:gdLst/>
              <a:ahLst/>
              <a:cxnLst/>
              <a:rect l="l" t="t" r="r" b="b"/>
              <a:pathLst>
                <a:path w="15849600" h="4826">
                  <a:moveTo>
                    <a:pt x="0" y="0"/>
                  </a:moveTo>
                  <a:lnTo>
                    <a:pt x="0" y="4826"/>
                  </a:lnTo>
                  <a:lnTo>
                    <a:pt x="15849600" y="4826"/>
                  </a:lnTo>
                  <a:lnTo>
                    <a:pt x="15849600" y="0"/>
                  </a:lnTo>
                  <a:close/>
                </a:path>
              </a:pathLst>
            </a:custGeom>
            <a:solidFill>
              <a:srgbClr val="CC0000"/>
            </a:solidFill>
          </p:spPr>
        </p:sp>
      </p:grpSp>
      <p:sp>
        <p:nvSpPr>
          <p:cNvPr id="4" name="Freeform 5">
            <a:extLst>
              <a:ext uri="{FF2B5EF4-FFF2-40B4-BE49-F238E27FC236}">
                <a16:creationId xmlns:a16="http://schemas.microsoft.com/office/drawing/2014/main" id="{A1CCFAF5-C362-B885-B9C0-64760CEE3AAD}"/>
              </a:ext>
            </a:extLst>
          </p:cNvPr>
          <p:cNvSpPr/>
          <p:nvPr/>
        </p:nvSpPr>
        <p:spPr>
          <a:xfrm>
            <a:off x="1118601" y="667373"/>
            <a:ext cx="16050797" cy="305591"/>
          </a:xfrm>
          <a:custGeom>
            <a:avLst/>
            <a:gdLst/>
            <a:ahLst/>
            <a:cxnLst/>
            <a:rect l="l" t="t" r="r" b="b"/>
            <a:pathLst>
              <a:path w="16050797" h="305591">
                <a:moveTo>
                  <a:pt x="0" y="0"/>
                </a:moveTo>
                <a:lnTo>
                  <a:pt x="16050796" y="0"/>
                </a:lnTo>
                <a:lnTo>
                  <a:pt x="16050796" y="305590"/>
                </a:lnTo>
                <a:lnTo>
                  <a:pt x="0" y="3055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6" name="TextBox 7">
            <a:extLst>
              <a:ext uri="{FF2B5EF4-FFF2-40B4-BE49-F238E27FC236}">
                <a16:creationId xmlns:a16="http://schemas.microsoft.com/office/drawing/2014/main" id="{557AD6B3-7237-4159-C168-2360072F0E4C}"/>
              </a:ext>
            </a:extLst>
          </p:cNvPr>
          <p:cNvSpPr txBox="1"/>
          <p:nvPr/>
        </p:nvSpPr>
        <p:spPr>
          <a:xfrm>
            <a:off x="1310640" y="9215885"/>
            <a:ext cx="1425559" cy="475221"/>
          </a:xfrm>
          <a:prstGeom prst="rect">
            <a:avLst/>
          </a:prstGeom>
        </p:spPr>
        <p:txBody>
          <a:bodyPr wrap="square" lIns="0" tIns="0" rIns="0" bIns="0" rtlCol="0" anchor="ctr">
            <a:spAutoFit/>
          </a:bodyPr>
          <a:lstStyle/>
          <a:p>
            <a:pPr algn="l">
              <a:lnSpc>
                <a:spcPts val="4262"/>
              </a:lnSpc>
            </a:pPr>
            <a:r>
              <a:rPr sz="900" b="0">
                <a:solidFill>
                  <a:srgbClr val="E8191D"/>
                </a:solidFill>
                <a:latin typeface="Aptos"/>
              </a:rPr>
              <a:t>Project Review</a:t>
            </a:r>
          </a:p>
        </p:txBody>
      </p:sp>
      <p:sp>
        <p:nvSpPr>
          <p:cNvPr id="7" name="TextBox 8">
            <a:extLst>
              <a:ext uri="{FF2B5EF4-FFF2-40B4-BE49-F238E27FC236}">
                <a16:creationId xmlns:a16="http://schemas.microsoft.com/office/drawing/2014/main" id="{113B5ADC-2C6B-1CE4-D5BF-BA63BA3214E7}"/>
              </a:ext>
            </a:extLst>
          </p:cNvPr>
          <p:cNvSpPr txBox="1"/>
          <p:nvPr/>
        </p:nvSpPr>
        <p:spPr>
          <a:xfrm>
            <a:off x="8345005" y="9215885"/>
            <a:ext cx="81972" cy="475221"/>
          </a:xfrm>
          <a:prstGeom prst="rect">
            <a:avLst/>
          </a:prstGeom>
        </p:spPr>
        <p:txBody>
          <a:bodyPr lIns="0" tIns="0" rIns="0" bIns="0" rtlCol="0" anchor="t">
            <a:spAutoFit/>
          </a:bodyPr>
          <a:lstStyle/>
          <a:p>
            <a:pPr algn="l">
              <a:lnSpc>
                <a:spcPts val="4262"/>
              </a:lnSpc>
            </a:pPr>
            <a:r>
              <a:rPr lang="en-US" sz="1800" spc="-19">
                <a:solidFill>
                  <a:srgbClr val="000000"/>
                </a:solidFill>
                <a:latin typeface="Montserrat"/>
                <a:ea typeface="Montserrat"/>
                <a:cs typeface="Montserrat"/>
                <a:sym typeface="Montserrat"/>
              </a:rPr>
              <a:t> </a:t>
            </a:r>
          </a:p>
        </p:txBody>
      </p:sp>
      <p:sp>
        <p:nvSpPr>
          <p:cNvPr id="8" name="TextBox 9">
            <a:extLst>
              <a:ext uri="{FF2B5EF4-FFF2-40B4-BE49-F238E27FC236}">
                <a16:creationId xmlns:a16="http://schemas.microsoft.com/office/drawing/2014/main" id="{71CDB197-B7DD-E0D9-5A19-0AB3B76F4A81}"/>
              </a:ext>
            </a:extLst>
          </p:cNvPr>
          <p:cNvSpPr txBox="1"/>
          <p:nvPr/>
        </p:nvSpPr>
        <p:spPr>
          <a:xfrm>
            <a:off x="16831922" y="9215885"/>
            <a:ext cx="313077" cy="470642"/>
          </a:xfrm>
          <a:prstGeom prst="rect">
            <a:avLst/>
          </a:prstGeom>
        </p:spPr>
        <p:txBody>
          <a:bodyPr wrap="square" lIns="0" tIns="0" rIns="0" bIns="0" rtlCol="0" anchor="ctr">
            <a:spAutoFit/>
          </a:bodyPr>
          <a:lstStyle/>
          <a:p>
            <a:pPr algn="ctr">
              <a:lnSpc>
                <a:spcPts val="4262"/>
              </a:lnSpc>
            </a:pPr>
            <a:r>
              <a:rPr sz="900" b="0">
                <a:solidFill>
                  <a:srgbClr val="525C6E"/>
                </a:solidFill>
                <a:latin typeface="Aptos"/>
              </a:rPr>
              <a:t>11</a:t>
            </a:r>
            <a:endParaRPr lang="en-US" sz="1800" spc="-19" dirty="0">
              <a:solidFill>
                <a:srgbClr val="000000"/>
              </a:solidFill>
              <a:latin typeface="Montserrat"/>
              <a:ea typeface="Montserrat"/>
              <a:cs typeface="Montserrat"/>
              <a:sym typeface="Montserrat"/>
            </a:endParaRPr>
          </a:p>
        </p:txBody>
      </p:sp>
      <p:sp>
        <p:nvSpPr>
          <p:cNvPr id="9" name="TextBox 10">
            <a:extLst>
              <a:ext uri="{FF2B5EF4-FFF2-40B4-BE49-F238E27FC236}">
                <a16:creationId xmlns:a16="http://schemas.microsoft.com/office/drawing/2014/main" id="{58B8AF1D-7843-6D47-4442-4321B59FB1DD}"/>
              </a:ext>
            </a:extLst>
          </p:cNvPr>
          <p:cNvSpPr txBox="1"/>
          <p:nvPr/>
        </p:nvSpPr>
        <p:spPr>
          <a:xfrm>
            <a:off x="6972062" y="9415910"/>
            <a:ext cx="4430611" cy="541896"/>
          </a:xfrm>
          <a:prstGeom prst="rect">
            <a:avLst/>
          </a:prstGeom>
        </p:spPr>
        <p:txBody>
          <a:bodyPr lIns="0" tIns="0" rIns="0" bIns="0" rtlCol="0" anchor="t">
            <a:spAutoFit/>
          </a:bodyPr>
          <a:lstStyle/>
          <a:p>
            <a:pPr algn="ctr">
              <a:lnSpc>
                <a:spcPts val="2100"/>
              </a:lnSpc>
            </a:pPr>
            <a:r>
              <a:rPr lang="en-US" sz="1800" spc="-19">
                <a:solidFill>
                  <a:srgbClr val="000000"/>
                </a:solidFill>
                <a:latin typeface="Montserrat"/>
                <a:ea typeface="Montserrat"/>
                <a:cs typeface="Montserrat"/>
                <a:sym typeface="Montserrat"/>
              </a:rPr>
              <a:t>Department of Computer Science and Engineering</a:t>
            </a:r>
          </a:p>
        </p:txBody>
      </p:sp>
      <p:sp>
        <p:nvSpPr>
          <p:cNvPr id="11" name="TextBox 10">
            <a:extLst>
              <a:ext uri="{FF2B5EF4-FFF2-40B4-BE49-F238E27FC236}">
                <a16:creationId xmlns:a16="http://schemas.microsoft.com/office/drawing/2014/main" id="{49DA475C-AFF0-0618-6DB7-9DCA657476BE}"/>
              </a:ext>
            </a:extLst>
          </p:cNvPr>
          <p:cNvSpPr txBox="1"/>
          <p:nvPr/>
        </p:nvSpPr>
        <p:spPr>
          <a:xfrm>
            <a:off x="5415972" y="5118437"/>
            <a:ext cx="7315200" cy="1015663"/>
          </a:xfrm>
          <a:prstGeom prst="rect">
            <a:avLst/>
          </a:prstGeom>
          <a:noFill/>
        </p:spPr>
        <p:txBody>
          <a:bodyPr wrap="square" rtlCol="0" anchor="ctr">
            <a:spAutoFit/>
          </a:bodyPr>
          <a:lstStyle/>
          <a:p>
            <a:pPr algn="ctr"/>
            <a:r>
              <a:rPr sz="6000" b="1" dirty="0">
                <a:solidFill>
                  <a:srgbClr val="0B2B66"/>
                </a:solidFill>
                <a:latin typeface="Aptos"/>
              </a:rPr>
              <a:t>THANK YOU</a:t>
            </a:r>
          </a:p>
        </p:txBody>
      </p:sp>
      <p:sp>
        <p:nvSpPr>
          <p:cNvPr id="12" name="TextBox 11"/>
          <p:cNvSpPr txBox="1"/>
          <p:nvPr/>
        </p:nvSpPr>
        <p:spPr>
          <a:xfrm>
            <a:off x="4501572" y="1216955"/>
            <a:ext cx="9144000" cy="1077218"/>
          </a:xfrm>
          <a:prstGeom prst="rect">
            <a:avLst/>
          </a:prstGeom>
          <a:noFill/>
        </p:spPr>
        <p:txBody>
          <a:bodyPr wrap="square" lIns="45720" rIns="45720" anchor="t">
            <a:spAutoFit/>
          </a:bodyPr>
          <a:lstStyle/>
          <a:p>
            <a:pPr algn="ctr"/>
            <a:r>
              <a:rPr sz="3200" b="1" dirty="0">
                <a:solidFill>
                  <a:srgbClr val="E8191D"/>
                </a:solidFill>
                <a:latin typeface="Aptos"/>
              </a:rPr>
              <a:t>CAMPUSCONNECT – WEB PROGRAMMING PROJECT</a:t>
            </a:r>
          </a:p>
        </p:txBody>
      </p:sp>
      <p:sp>
        <p:nvSpPr>
          <p:cNvPr id="13" name="TextBox 12"/>
          <p:cNvSpPr txBox="1"/>
          <p:nvPr/>
        </p:nvSpPr>
        <p:spPr>
          <a:xfrm>
            <a:off x="4419600" y="3499605"/>
            <a:ext cx="9144000" cy="584775"/>
          </a:xfrm>
          <a:prstGeom prst="rect">
            <a:avLst/>
          </a:prstGeom>
          <a:noFill/>
        </p:spPr>
        <p:txBody>
          <a:bodyPr wrap="square" lIns="45720" rIns="45720" anchor="t">
            <a:spAutoFit/>
          </a:bodyPr>
          <a:lstStyle/>
          <a:p>
            <a:pPr algn="ctr"/>
            <a:r>
              <a:rPr sz="3200" b="1" dirty="0">
                <a:solidFill>
                  <a:srgbClr val="1F2937"/>
                </a:solidFill>
                <a:latin typeface="Aptos"/>
              </a:rPr>
              <a:t>Barath Kavin S  |  240701071</a:t>
            </a:r>
          </a:p>
        </p:txBody>
      </p:sp>
      <p:sp>
        <p:nvSpPr>
          <p:cNvPr id="14" name="TextBox 13"/>
          <p:cNvSpPr txBox="1"/>
          <p:nvPr/>
        </p:nvSpPr>
        <p:spPr>
          <a:xfrm>
            <a:off x="4608995" y="4255386"/>
            <a:ext cx="9144000" cy="707886"/>
          </a:xfrm>
          <a:prstGeom prst="rect">
            <a:avLst/>
          </a:prstGeom>
          <a:noFill/>
        </p:spPr>
        <p:txBody>
          <a:bodyPr wrap="square" lIns="45720" rIns="45720" anchor="t">
            <a:spAutoFit/>
          </a:bodyPr>
          <a:lstStyle/>
          <a:p>
            <a:pPr algn="ctr"/>
            <a:r>
              <a:rPr sz="4000" b="0" dirty="0">
                <a:solidFill>
                  <a:srgbClr val="525C6E"/>
                </a:solidFill>
                <a:latin typeface="Aptos"/>
              </a:rPr>
              <a:t>CS23531 – Web Programming</a:t>
            </a:r>
          </a:p>
        </p:txBody>
      </p:sp>
      <p:sp>
        <p:nvSpPr>
          <p:cNvPr id="15" name="TextBox 14"/>
          <p:cNvSpPr txBox="1"/>
          <p:nvPr/>
        </p:nvSpPr>
        <p:spPr>
          <a:xfrm>
            <a:off x="4608995" y="2277270"/>
            <a:ext cx="9144000" cy="411480"/>
          </a:xfrm>
          <a:prstGeom prst="rect">
            <a:avLst/>
          </a:prstGeom>
          <a:noFill/>
        </p:spPr>
        <p:txBody>
          <a:bodyPr wrap="square" lIns="45720" rIns="45720" anchor="t">
            <a:spAutoFit/>
          </a:bodyPr>
          <a:lstStyle/>
          <a:p>
            <a:pPr algn="ctr"/>
            <a:r>
              <a:rPr sz="2000" b="1" dirty="0">
                <a:solidFill>
                  <a:srgbClr val="7C4BE2"/>
                </a:solidFill>
                <a:latin typeface="Aptos"/>
              </a:rPr>
              <a:t>Live demo: http://76.13.243.90:3103</a:t>
            </a:r>
          </a:p>
        </p:txBody>
      </p:sp>
    </p:spTree>
    <p:extLst>
      <p:ext uri="{BB962C8B-B14F-4D97-AF65-F5344CB8AC3E}">
        <p14:creationId xmlns:p14="http://schemas.microsoft.com/office/powerpoint/2010/main" val="2439545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988</Words>
  <Application>Microsoft Office PowerPoint</Application>
  <PresentationFormat>Custom</PresentationFormat>
  <Paragraphs>145</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Sitka Small Semibold</vt:lpstr>
      <vt:lpstr>Montserrat</vt:lpstr>
      <vt:lpstr>Aptos</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Review - PPT Template.pptx_20250911_100338_0000.pdf</dc:title>
  <dc:creator>barath kavin</dc:creator>
  <cp:lastModifiedBy>DELL</cp:lastModifiedBy>
  <cp:revision>17</cp:revision>
  <dcterms:created xsi:type="dcterms:W3CDTF">2006-08-16T00:00:00Z</dcterms:created>
  <dcterms:modified xsi:type="dcterms:W3CDTF">2026-09-30T12:16:47Z</dcterms:modified>
  <dc:identifier>DAGyvdR0EJk</dc:identifier>
</cp:coreProperties>
</file>